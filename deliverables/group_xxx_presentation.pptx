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3000">
                <a:solidFill>
                  <a:srgbClr val="FFFFFF"/>
                </a:solidFill>
              </a:rPr>
              <a:t>QuickCart Supermarket MongoDB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60120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DDE8EF"/>
                </a:solidFill>
              </a:rPr>
              <a:t>Big Data Storage final project, replace group_xxx and member names before submitting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828800"/>
            <a:ext cx="3291840" cy="1828800"/>
          </a:xfrm>
          <a:prstGeom prst="rect">
            <a:avLst/>
          </a:prstGeom>
          <a:solidFill>
            <a:srgbClr val="E8F1F5"/>
          </a:solidFill>
          <a:ln>
            <a:solidFill>
              <a:srgbClr val="C9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500">
                <a:solidFill>
                  <a:srgbClr val="143642"/>
                </a:solidFill>
              </a:rPr>
              <a:t>Dataset</a:t>
            </a:r>
          </a:p>
          <a:p>
            <a:pPr>
              <a:defRPr sz="1100">
                <a:solidFill>
                  <a:srgbClr val="263640"/>
                </a:solidFill>
              </a:defRPr>
            </a:pPr>
            <a:r>
              <a:t>1000 receipts</a:t>
            </a:r>
            <a:br/>
            <a:r>
              <a:t>3 branches</a:t>
            </a:r>
            <a:br/>
            <a:r>
              <a:t>6 product 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0" y="1828800"/>
            <a:ext cx="3291840" cy="1828800"/>
          </a:xfrm>
          <a:prstGeom prst="rect">
            <a:avLst/>
          </a:prstGeom>
          <a:solidFill>
            <a:srgbClr val="E8F1F5"/>
          </a:solidFill>
          <a:ln>
            <a:solidFill>
              <a:srgbClr val="C9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500">
                <a:solidFill>
                  <a:srgbClr val="143642"/>
                </a:solidFill>
              </a:rPr>
              <a:t>Revenue</a:t>
            </a:r>
          </a:p>
          <a:p>
            <a:pPr>
              <a:defRPr sz="1100">
                <a:solidFill>
                  <a:srgbClr val="263640"/>
                </a:solidFill>
              </a:defRPr>
            </a:pPr>
            <a:r>
              <a:t>$322,966.75</a:t>
            </a:r>
            <a:br/>
            <a:r>
              <a:t>Gross income $15,379.37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0" y="1828800"/>
            <a:ext cx="3291840" cy="1828800"/>
          </a:xfrm>
          <a:prstGeom prst="rect">
            <a:avLst/>
          </a:prstGeom>
          <a:solidFill>
            <a:srgbClr val="E8F1F5"/>
          </a:solidFill>
          <a:ln>
            <a:solidFill>
              <a:srgbClr val="C9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500">
                <a:solidFill>
                  <a:srgbClr val="143642"/>
                </a:solidFill>
              </a:rPr>
              <a:t>MongoDB fit</a:t>
            </a:r>
          </a:p>
          <a:p>
            <a:pPr>
              <a:defRPr sz="1100">
                <a:solidFill>
                  <a:srgbClr val="263640"/>
                </a:solidFill>
              </a:defRPr>
            </a:pPr>
            <a:r>
              <a:t>Each checkout receipt is a single document with embedded branch, customer, payment, financials, and item data.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3000">
                <a:solidFill>
                  <a:srgbClr val="1B2A38"/>
                </a:solidFill>
              </a:rPr>
              <a:t>Company and business process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3474720" cy="4206240"/>
          </a:xfrm>
          <a:prstGeom prst="rect">
            <a:avLst/>
          </a:prstGeom>
          <a:solidFill>
            <a:srgbClr val="FFFFFF"/>
          </a:solidFill>
          <a:ln>
            <a:solidFill>
              <a:srgbClr val="C9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500">
                <a:solidFill>
                  <a:srgbClr val="143642"/>
                </a:solidFill>
              </a:rPr>
              <a:t>Chosen company</a:t>
            </a:r>
          </a:p>
          <a:p>
            <a:pPr>
              <a:defRPr sz="1100">
                <a:solidFill>
                  <a:srgbClr val="263640"/>
                </a:solidFill>
              </a:defRPr>
            </a:pPr>
            <a:r>
              <a:t>QuickCart Supermarket, a three branch retail chain selling food, household goods, clothing, electronics, sports items, and health products.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0" y="1371600"/>
            <a:ext cx="3474720" cy="4206240"/>
          </a:xfrm>
          <a:prstGeom prst="rect">
            <a:avLst/>
          </a:prstGeom>
          <a:solidFill>
            <a:srgbClr val="FFFFFF"/>
          </a:solidFill>
          <a:ln>
            <a:solidFill>
              <a:srgbClr val="C9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500">
                <a:solidFill>
                  <a:srgbClr val="143642"/>
                </a:solidFill>
              </a:rPr>
              <a:t>Process modelled</a:t>
            </a:r>
          </a:p>
          <a:p>
            <a:pPr>
              <a:defRPr sz="1100">
                <a:solidFill>
                  <a:srgbClr val="263640"/>
                </a:solidFill>
              </a:defRPr>
            </a:pPr>
            <a:r>
              <a:t>Checkout receipt: branch, customer type, product line, quantity, payment method, total, gross income, and rating.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8138160" y="1371600"/>
            <a:ext cx="3474720" cy="4206240"/>
          </a:xfrm>
          <a:prstGeom prst="rect">
            <a:avLst/>
          </a:prstGeom>
          <a:solidFill>
            <a:srgbClr val="FFFFFF"/>
          </a:solidFill>
          <a:ln>
            <a:solidFill>
              <a:srgbClr val="C9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500">
                <a:solidFill>
                  <a:srgbClr val="143642"/>
                </a:solidFill>
              </a:rPr>
              <a:t>Why MongoDB</a:t>
            </a:r>
          </a:p>
          <a:p>
            <a:pPr>
              <a:defRPr sz="1100">
                <a:solidFill>
                  <a:srgbClr val="263640"/>
                </a:solidFill>
              </a:defRPr>
            </a:pPr>
            <a:r>
              <a:t>One receipt can live as one document. Managers can read the sale directly, then group the same collection by branch, product, payment, or hour.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3000">
                <a:solidFill>
                  <a:srgbClr val="1B2A38"/>
                </a:solidFill>
              </a:rPr>
              <a:t>Document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80160"/>
            <a:ext cx="5303520" cy="4480560"/>
          </a:xfrm>
          <a:prstGeom prst="rect">
            <a:avLst/>
          </a:prstGeom>
          <a:solidFill>
            <a:srgbClr val="FFFFFF"/>
          </a:solidFill>
          <a:ln>
            <a:solidFill>
              <a:srgbClr val="C9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500">
                <a:solidFill>
                  <a:srgbClr val="143642"/>
                </a:solidFill>
              </a:rPr>
              <a:t>sales_receipts</a:t>
            </a:r>
          </a:p>
          <a:p>
            <a:pPr>
              <a:defRPr sz="1100">
                <a:solidFill>
                  <a:srgbClr val="263640"/>
                </a:solidFill>
              </a:defRPr>
            </a:pPr>
            <a:r>
              <a:t>_id, invoice_id</a:t>
            </a:r>
            <a:br/>
            <a:r>
              <a:t>branch {code, city}</a:t>
            </a:r>
            <a:br/>
            <a:r>
              <a:t>customer {type, gender}</a:t>
            </a:r>
            <a:br/>
            <a:r>
              <a:t>items [{product_line, unit_price, quantity, totals}]</a:t>
            </a:r>
            <a:br/>
            <a:r>
              <a:t>sale_datetime, sale_month, sale_hour</a:t>
            </a:r>
            <a:br/>
            <a:r>
              <a:t>payment {method}</a:t>
            </a:r>
            <a:br/>
            <a:r>
              <a:t>financials {cogs, tax, total, gross_income}</a:t>
            </a:r>
            <a:br/>
            <a:r>
              <a:t>rating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0" y="1280160"/>
            <a:ext cx="5120640" cy="2011680"/>
          </a:xfrm>
          <a:prstGeom prst="rect">
            <a:avLst/>
          </a:prstGeom>
          <a:solidFill>
            <a:srgbClr val="FFFFFF"/>
          </a:solidFill>
          <a:ln>
            <a:solidFill>
              <a:srgbClr val="C9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500">
                <a:solidFill>
                  <a:srgbClr val="143642"/>
                </a:solidFill>
              </a:rPr>
              <a:t>Design choice</a:t>
            </a:r>
          </a:p>
          <a:p>
            <a:pPr>
              <a:defRPr sz="1100">
                <a:solidFill>
                  <a:srgbClr val="263640"/>
                </a:solidFill>
              </a:defRPr>
            </a:pPr>
            <a:r>
              <a:t>One collection keeps the assignment focused and avoids artificial joins. It still supports every required query and aggregation.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3749039"/>
            <a:ext cx="5120640" cy="2011680"/>
          </a:xfrm>
          <a:prstGeom prst="rect">
            <a:avLst/>
          </a:prstGeom>
          <a:solidFill>
            <a:srgbClr val="FFFFFF"/>
          </a:solidFill>
          <a:ln>
            <a:solidFill>
              <a:srgbClr val="C9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500">
                <a:solidFill>
                  <a:srgbClr val="143642"/>
                </a:solidFill>
              </a:rPr>
              <a:t>Tradeoff</a:t>
            </a:r>
          </a:p>
          <a:p>
            <a:pPr>
              <a:defRPr sz="1100">
                <a:solidFill>
                  <a:srgbClr val="263640"/>
                </a:solidFill>
              </a:defRPr>
            </a:pPr>
            <a:r>
              <a:t>Branch and product values repeat. That is acceptable for read heavy analysis, but production stock systems would add catalogue and inventory collections.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3000">
                <a:solidFill>
                  <a:srgbClr val="1B2A38"/>
                </a:solidFill>
              </a:rPr>
              <a:t>Data quality and validation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80160"/>
            <a:ext cx="5303520" cy="1828800"/>
          </a:xfrm>
          <a:prstGeom prst="rect">
            <a:avLst/>
          </a:prstGeom>
          <a:solidFill>
            <a:srgbClr val="FFFFFF"/>
          </a:solidFill>
          <a:ln>
            <a:solidFill>
              <a:srgbClr val="C9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500">
                <a:solidFill>
                  <a:srgbClr val="143642"/>
                </a:solidFill>
              </a:rPr>
              <a:t>Quality operations</a:t>
            </a:r>
          </a:p>
          <a:p>
            <a:pPr>
              <a:defRPr sz="1100">
                <a:solidFill>
                  <a:srgbClr val="263640"/>
                </a:solidFill>
              </a:defRPr>
            </a:pPr>
            <a:r>
              <a:t>Parsed date and time into MongoDB date. Cast prices, taxes, totals, ratings, and quantity. Removed duplicate invoice ids. Added sale_month, weekday, and hour. Standardised branch city names.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566160"/>
            <a:ext cx="5303520" cy="1828800"/>
          </a:xfrm>
          <a:prstGeom prst="rect">
            <a:avLst/>
          </a:prstGeom>
          <a:solidFill>
            <a:srgbClr val="FFFFFF"/>
          </a:solidFill>
          <a:ln>
            <a:solidFill>
              <a:srgbClr val="C9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500">
                <a:solidFill>
                  <a:srgbClr val="143642"/>
                </a:solidFill>
              </a:rPr>
              <a:t>Validation rules</a:t>
            </a:r>
          </a:p>
          <a:p>
            <a:pPr>
              <a:defRPr sz="1100">
                <a:solidFill>
                  <a:srgbClr val="263640"/>
                </a:solidFill>
              </a:defRPr>
            </a:pPr>
            <a:r>
              <a:t>Required receipt fields. Enums for branch, city, customer type, gender, payment, and product line. Quantity at least 1. Financial values non negative. Rating from 0 to 10.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280160"/>
            <a:ext cx="5120640" cy="4114800"/>
          </a:xfrm>
          <a:prstGeom prst="rect">
            <a:avLst/>
          </a:prstGeom>
          <a:solidFill>
            <a:srgbClr val="FFFFFF"/>
          </a:solidFill>
          <a:ln>
            <a:solidFill>
              <a:srgbClr val="C9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500">
                <a:solidFill>
                  <a:srgbClr val="143642"/>
                </a:solidFill>
              </a:rPr>
              <a:t>Why this matters</a:t>
            </a:r>
          </a:p>
          <a:p>
            <a:pPr>
              <a:defRPr sz="1100">
                <a:solidFill>
                  <a:srgbClr val="263640"/>
                </a:solidFill>
              </a:defRPr>
            </a:pPr>
            <a:r>
              <a:t>Bad checkout records can make branch and product numbers wrong. The validator catches bad categories and bad receipt formats before the reports use them.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3000">
                <a:solidFill>
                  <a:srgbClr val="1B2A38"/>
                </a:solidFill>
              </a:rPr>
              <a:t>Business insights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210312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Food and beverages</a:t>
            </a:r>
          </a:p>
        </p:txBody>
      </p:sp>
      <p:sp>
        <p:nvSpPr>
          <p:cNvPr id="4" name="Rectangle 3"/>
          <p:cNvSpPr/>
          <p:nvPr/>
        </p:nvSpPr>
        <p:spPr>
          <a:xfrm>
            <a:off x="2834639" y="1280160"/>
            <a:ext cx="3657600" cy="402336"/>
          </a:xfrm>
          <a:prstGeom prst="rect">
            <a:avLst/>
          </a:prstGeom>
          <a:solidFill>
            <a:srgbClr val="0E7C7B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0" y="1280160"/>
            <a:ext cx="109728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$56,144.84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210312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Sports and travel</a:t>
            </a:r>
          </a:p>
        </p:txBody>
      </p:sp>
      <p:sp>
        <p:nvSpPr>
          <p:cNvPr id="7" name="Rectangle 6"/>
          <p:cNvSpPr/>
          <p:nvPr/>
        </p:nvSpPr>
        <p:spPr>
          <a:xfrm>
            <a:off x="2834639" y="2011680"/>
            <a:ext cx="3591019" cy="402336"/>
          </a:xfrm>
          <a:prstGeom prst="rect">
            <a:avLst/>
          </a:prstGeom>
          <a:solidFill>
            <a:srgbClr val="0E7C7B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17099" y="2011680"/>
            <a:ext cx="109728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$55,122.83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43200"/>
            <a:ext cx="210312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Electronic accessories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4639" y="2743200"/>
            <a:ext cx="3539861" cy="402336"/>
          </a:xfrm>
          <a:prstGeom prst="rect">
            <a:avLst/>
          </a:prstGeom>
          <a:solidFill>
            <a:srgbClr val="0E7C7B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5941" y="2743200"/>
            <a:ext cx="109728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$54,337.53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474720"/>
            <a:ext cx="210312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Fashion accessories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34639" y="3474720"/>
            <a:ext cx="3537800" cy="402336"/>
          </a:xfrm>
          <a:prstGeom prst="rect">
            <a:avLst/>
          </a:prstGeom>
          <a:solidFill>
            <a:srgbClr val="0E7C7B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63880" y="3474720"/>
            <a:ext cx="109728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$54,305.89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206240"/>
            <a:ext cx="210312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Home and lifestyle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34639" y="4206240"/>
            <a:ext cx="3508876" cy="402336"/>
          </a:xfrm>
          <a:prstGeom prst="rect">
            <a:avLst/>
          </a:prstGeom>
          <a:solidFill>
            <a:srgbClr val="0E7C7B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4956" y="4206240"/>
            <a:ext cx="109728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$53,861.91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937760"/>
            <a:ext cx="210312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Health and beauty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34639" y="4937760"/>
            <a:ext cx="3204764" cy="402336"/>
          </a:xfrm>
          <a:prstGeom prst="rect">
            <a:avLst/>
          </a:prstGeom>
          <a:solidFill>
            <a:srgbClr val="0E7C7B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0844" y="4937760"/>
            <a:ext cx="109728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$49,193.74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80960" y="1280160"/>
            <a:ext cx="3749039" cy="1280160"/>
          </a:xfrm>
          <a:prstGeom prst="rect">
            <a:avLst/>
          </a:prstGeom>
          <a:solidFill>
            <a:srgbClr val="FFFFFF"/>
          </a:solidFill>
          <a:ln>
            <a:solidFill>
              <a:srgbClr val="C9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500">
                <a:solidFill>
                  <a:srgbClr val="143642"/>
                </a:solidFill>
              </a:rPr>
              <a:t>Top product line</a:t>
            </a:r>
          </a:p>
          <a:p>
            <a:pPr>
              <a:defRPr sz="1100">
                <a:solidFill>
                  <a:srgbClr val="263640"/>
                </a:solidFill>
              </a:defRPr>
            </a:pPr>
            <a:r>
              <a:t>Food and beverages</a:t>
            </a:r>
            <a:br/>
            <a:r>
              <a:t>$56,144.84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80960" y="2834640"/>
            <a:ext cx="3749039" cy="1280160"/>
          </a:xfrm>
          <a:prstGeom prst="rect">
            <a:avLst/>
          </a:prstGeom>
          <a:solidFill>
            <a:srgbClr val="FFFFFF"/>
          </a:solidFill>
          <a:ln>
            <a:solidFill>
              <a:srgbClr val="C9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500">
                <a:solidFill>
                  <a:srgbClr val="143642"/>
                </a:solidFill>
              </a:rPr>
              <a:t>Top branch</a:t>
            </a:r>
          </a:p>
          <a:p>
            <a:pPr>
              <a:defRPr sz="1100">
                <a:solidFill>
                  <a:srgbClr val="263640"/>
                </a:solidFill>
              </a:defRPr>
            </a:pPr>
            <a:r>
              <a:t>C, Naypyitaw</a:t>
            </a:r>
            <a:br/>
            <a:r>
              <a:t>$110,568.71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80960" y="4389120"/>
            <a:ext cx="3749039" cy="1280160"/>
          </a:xfrm>
          <a:prstGeom prst="rect">
            <a:avLst/>
          </a:prstGeom>
          <a:solidFill>
            <a:srgbClr val="FFFFFF"/>
          </a:solidFill>
          <a:ln>
            <a:solidFill>
              <a:srgbClr val="C9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500">
                <a:solidFill>
                  <a:srgbClr val="143642"/>
                </a:solidFill>
              </a:rPr>
              <a:t>Average ticket</a:t>
            </a:r>
          </a:p>
          <a:p>
            <a:pPr>
              <a:defRPr sz="1100">
                <a:solidFill>
                  <a:srgbClr val="263640"/>
                </a:solidFill>
              </a:defRPr>
            </a:pPr>
            <a:r>
              <a:t>$322.97</a:t>
            </a:r>
            <a:br/>
            <a:r>
              <a:t>Rating 6.97/10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3000">
                <a:solidFill>
                  <a:srgbClr val="1B2A38"/>
                </a:solidFill>
              </a:rPr>
              <a:t>Queries and aggregations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80160"/>
            <a:ext cx="347472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9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500">
                <a:solidFill>
                  <a:srgbClr val="143642"/>
                </a:solidFill>
              </a:rPr>
              <a:t>Five queries</a:t>
            </a:r>
          </a:p>
          <a:p>
            <a:pPr>
              <a:defRPr sz="1100">
                <a:solidFill>
                  <a:srgbClr val="263640"/>
                </a:solidFill>
              </a:defRPr>
            </a:pPr>
            <a:r>
              <a:t>Branch C March tickets. High value Food and beverages receipts. Cash tickets above average. Member Sports and travel receipts. Low rating follow up list.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0" y="1280160"/>
            <a:ext cx="347472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9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500">
                <a:solidFill>
                  <a:srgbClr val="143642"/>
                </a:solidFill>
              </a:rPr>
              <a:t>Four aggregations</a:t>
            </a:r>
          </a:p>
          <a:p>
            <a:pPr>
              <a:defRPr sz="1100">
                <a:solidFill>
                  <a:srgbClr val="263640"/>
                </a:solidFill>
              </a:defRPr>
            </a:pPr>
            <a:r>
              <a:t>Branch scorecard. Product line performance. Sales by hour. Customer type and payment mix.</a:t>
            </a:r>
          </a:p>
        </p:txBody>
      </p:sp>
      <p:sp>
        <p:nvSpPr>
          <p:cNvPr id="5" name="Rectangle 4"/>
          <p:cNvSpPr/>
          <p:nvPr/>
        </p:nvSpPr>
        <p:spPr>
          <a:xfrm>
            <a:off x="8138160" y="1280160"/>
            <a:ext cx="347472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9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500">
                <a:solidFill>
                  <a:srgbClr val="143642"/>
                </a:solidFill>
              </a:rPr>
              <a:t>Business use</a:t>
            </a:r>
          </a:p>
          <a:p>
            <a:pPr>
              <a:defRPr sz="1100">
                <a:solidFill>
                  <a:srgbClr val="263640"/>
                </a:solidFill>
              </a:defRPr>
            </a:pPr>
            <a:r>
              <a:t>Store managers can see where revenue is coming from, which categories deserve attention, and which low rating receipts need service follow up.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3000">
                <a:solidFill>
                  <a:srgbClr val="1B2A38"/>
                </a:solidFill>
              </a:rPr>
              <a:t>Indexes and performance impact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80160"/>
            <a:ext cx="3474720" cy="4297680"/>
          </a:xfrm>
          <a:prstGeom prst="rect">
            <a:avLst/>
          </a:prstGeom>
          <a:solidFill>
            <a:srgbClr val="FFFFFF"/>
          </a:solidFill>
          <a:ln>
            <a:solidFill>
              <a:srgbClr val="C9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500">
                <a:solidFill>
                  <a:srgbClr val="143642"/>
                </a:solidFill>
              </a:rPr>
              <a:t>Indexes</a:t>
            </a:r>
          </a:p>
          <a:p>
            <a:pPr>
              <a:defRPr sz="1100">
                <a:solidFill>
                  <a:srgbClr val="263640"/>
                </a:solidFill>
              </a:defRPr>
            </a:pPr>
            <a:r>
              <a:t>sale_datetime</a:t>
            </a:r>
            <a:br/>
            <a:r>
              <a:t>branch.code plus sale_datetime</a:t>
            </a:r>
            <a:br/>
            <a:r>
              <a:t>items.product_line plus total</a:t>
            </a:r>
            <a:br/>
            <a:r>
              <a:t>payment.method plus date</a:t>
            </a:r>
            <a:br/>
            <a:r>
              <a:t>rating plus total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0" y="1280160"/>
            <a:ext cx="3474720" cy="4297680"/>
          </a:xfrm>
          <a:prstGeom prst="rect">
            <a:avLst/>
          </a:prstGeom>
          <a:solidFill>
            <a:srgbClr val="FFFFFF"/>
          </a:solidFill>
          <a:ln>
            <a:solidFill>
              <a:srgbClr val="C9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500">
                <a:solidFill>
                  <a:srgbClr val="143642"/>
                </a:solidFill>
              </a:rPr>
              <a:t>Candidate reads</a:t>
            </a:r>
          </a:p>
          <a:p>
            <a:pPr>
              <a:defRPr sz="1100">
                <a:solidFill>
                  <a:srgbClr val="263640"/>
                </a:solidFill>
              </a:defRPr>
            </a:pPr>
            <a:r>
              <a:t>Branch C March: 1000 to 106</a:t>
            </a:r>
            <a:br/>
            <a:r>
              <a:t>Food above 500: 174 to 37</a:t>
            </a:r>
            <a:br/>
            <a:r>
              <a:t>Low rating: 1000 to 153</a:t>
            </a:r>
          </a:p>
        </p:txBody>
      </p:sp>
      <p:sp>
        <p:nvSpPr>
          <p:cNvPr id="5" name="Rectangle 4"/>
          <p:cNvSpPr/>
          <p:nvPr/>
        </p:nvSpPr>
        <p:spPr>
          <a:xfrm>
            <a:off x="8138160" y="1280160"/>
            <a:ext cx="3474720" cy="4297680"/>
          </a:xfrm>
          <a:prstGeom prst="rect">
            <a:avLst/>
          </a:prstGeom>
          <a:solidFill>
            <a:srgbClr val="FFFFFF"/>
          </a:solidFill>
          <a:ln>
            <a:solidFill>
              <a:srgbClr val="C9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500">
                <a:solidFill>
                  <a:srgbClr val="143642"/>
                </a:solidFill>
              </a:rPr>
              <a:t>Defense point</a:t>
            </a:r>
          </a:p>
          <a:p>
            <a:pPr>
              <a:defRPr sz="1100">
                <a:solidFill>
                  <a:srgbClr val="263640"/>
                </a:solidFill>
              </a:defRPr>
            </a:pPr>
            <a:r>
              <a:t>The dataset is small, so speed changes are small. I still added the indexes because the same queries would need them with a much larger receipt table.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3000">
                <a:solidFill>
                  <a:srgbClr val="FFFFFF"/>
                </a:solidFill>
              </a:rPr>
              <a:t>Submission package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60120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DDE8EF"/>
                </a:solidFill>
              </a:rPr>
              <a:t>What is inside group_xxx.zip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3383280" cy="3840480"/>
          </a:xfrm>
          <a:prstGeom prst="rect">
            <a:avLst/>
          </a:prstGeom>
          <a:solidFill>
            <a:srgbClr val="E8F1F5"/>
          </a:solidFill>
          <a:ln>
            <a:solidFill>
              <a:srgbClr val="C9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500">
                <a:solidFill>
                  <a:srgbClr val="143642"/>
                </a:solidFill>
              </a:rPr>
              <a:t>Files</a:t>
            </a:r>
          </a:p>
          <a:p>
            <a:pPr>
              <a:defRPr sz="1100">
                <a:solidFill>
                  <a:srgbClr val="263640"/>
                </a:solidFill>
              </a:defRPr>
            </a:pPr>
            <a:r>
              <a:t>group_xxx_report.docx and PDF</a:t>
            </a:r>
            <a:br/>
            <a:r>
              <a:t>group_xxx.bson</a:t>
            </a:r>
            <a:br/>
            <a:r>
              <a:t>group_xxx.txt</a:t>
            </a:r>
            <a:br/>
            <a:r>
              <a:t>group_xxx_presentation.pptx</a:t>
            </a:r>
          </a:p>
        </p:txBody>
      </p:sp>
      <p:sp>
        <p:nvSpPr>
          <p:cNvPr id="5" name="Rectangle 4"/>
          <p:cNvSpPr/>
          <p:nvPr/>
        </p:nvSpPr>
        <p:spPr>
          <a:xfrm>
            <a:off x="4480560" y="1645920"/>
            <a:ext cx="3383280" cy="3840480"/>
          </a:xfrm>
          <a:prstGeom prst="rect">
            <a:avLst/>
          </a:prstGeom>
          <a:solidFill>
            <a:srgbClr val="E8F1F5"/>
          </a:solidFill>
          <a:ln>
            <a:solidFill>
              <a:srgbClr val="C9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500">
                <a:solidFill>
                  <a:srgbClr val="143642"/>
                </a:solidFill>
              </a:rPr>
              <a:t>Check files</a:t>
            </a:r>
          </a:p>
          <a:p>
            <a:pPr>
              <a:defRPr sz="1100">
                <a:solidFill>
                  <a:srgbClr val="263640"/>
                </a:solidFill>
              </a:defRPr>
            </a:pPr>
            <a:r>
              <a:t>Verification log, source CSV, metadata JSON, generator script, and restore notes are included so the work can be checked.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0" y="1645920"/>
            <a:ext cx="3200400" cy="3840480"/>
          </a:xfrm>
          <a:prstGeom prst="rect">
            <a:avLst/>
          </a:prstGeom>
          <a:solidFill>
            <a:srgbClr val="E8F1F5"/>
          </a:solidFill>
          <a:ln>
            <a:solidFill>
              <a:srgbClr val="C9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500">
                <a:solidFill>
                  <a:srgbClr val="143642"/>
                </a:solidFill>
              </a:rPr>
              <a:t>Before Moodle</a:t>
            </a:r>
          </a:p>
          <a:p>
            <a:pPr>
              <a:defRPr sz="1100">
                <a:solidFill>
                  <a:srgbClr val="263640"/>
                </a:solidFill>
              </a:defRPr>
            </a:pPr>
            <a:r>
              <a:t>Replace group_xxx, member names, and student numbers. Then upload only once for the group.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