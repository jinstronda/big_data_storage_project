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10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193080" y="62108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93080" y="78567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193080" y="95026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193080" y="111485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193080" y="127944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193080" y="144404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193080" y="160863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193080" y="177322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193080" y="193781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193080" y="210240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193080" y="226700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193080" y="243159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357672" y="62108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357672" y="78567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357672" y="95026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357672" y="111485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357672" y="127944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357672" y="144404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357672" y="160863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357672" y="177322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357672" y="193781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357672" y="210240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357672" y="226700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357672" y="243159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522264" y="62108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522264" y="78567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522264" y="95026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522264" y="111485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522264" y="127944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522264" y="144404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522264" y="160863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522264" y="177322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522264" y="193781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522264" y="210240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522264" y="226700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522264" y="243159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686856" y="62108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686856" y="78567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686856" y="95026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686856" y="111485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686856" y="127944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686856" y="144404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686856" y="160863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5686856" y="177322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686856" y="193781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686856" y="210240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686856" y="226700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686856" y="243159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851448" y="62108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851448" y="78567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851448" y="95026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851448" y="111485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851448" y="127944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851448" y="144404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851448" y="160863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851448" y="177322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5851448" y="193781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5851448" y="210240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5851448" y="226700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5851448" y="243159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016040" y="62108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016040" y="78567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016040" y="95026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016040" y="111485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6016040" y="127944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6016040" y="144404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6016040" y="160863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6016040" y="177322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6016040" y="193781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6016040" y="210240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6016040" y="226700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6016040" y="243159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6180632" y="62108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6180632" y="78567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6180632" y="95026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6180632" y="111485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6180632" y="127944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6180632" y="144404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6180632" y="160863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6180632" y="177322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6180632" y="193781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6180632" y="210240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6180632" y="226700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6180632" y="243159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6345224" y="62108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6345224" y="78567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6345224" y="95026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6345224" y="111485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6345224" y="127944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6345224" y="144404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6345224" y="160863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6345224" y="177322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6345224" y="193781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6345224" y="210240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6345224" y="226700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6345224" y="243159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6509816" y="62108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6509816" y="78567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6509816" y="95026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6509816" y="111485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6509816" y="127944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6509816" y="144404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6509816" y="160863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6509816" y="177322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6509816" y="193781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6509816" y="210240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6509816" y="226700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6509816" y="243159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6674408" y="62108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6674408" y="78567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6674408" y="95026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6674408" y="111485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6674408" y="127944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6674408" y="144404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6674408" y="160863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6674408" y="177322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6674408" y="193781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6674408" y="210240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6674408" y="226700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6674408" y="243159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6839000" y="62108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6839000" y="78567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6839000" y="95026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6839000" y="111485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6839000" y="127944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6839000" y="144404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6839000" y="160863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6839000" y="177322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6839000" y="193781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6839000" y="210240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6839000" y="226700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6839000" y="243159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7003592" y="62108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7003592" y="78567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7003592" y="95026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7003592" y="111485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7003592" y="127944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7003592" y="144404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7003592" y="160863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7003592" y="177322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7003592" y="193781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7003592" y="210240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7003592" y="226700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7003592" y="243159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7168184" y="62108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7168184" y="78567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7168184" y="95026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7168184" y="111485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7168184" y="127944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7168184" y="144404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7168184" y="160863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7168184" y="177322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7168184" y="193781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7168184" y="210240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7168184" y="226700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7168184" y="243159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7332776" y="62108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7332776" y="78567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7332776" y="95026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7332776" y="111485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7332776" y="127944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7332776" y="144404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7332776" y="160863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7332776" y="177322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7332776" y="193781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7332776" y="210240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7332776" y="226700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7332776" y="243159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7497368" y="62108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7497368" y="78567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7497368" y="95026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7497368" y="111485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7497368" y="127944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7497368" y="144404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7497368" y="160863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7497368" y="177322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7497368" y="193781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7497368" y="210240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7497368" y="226700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7497368" y="243159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7661960" y="62108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7661960" y="78567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7661960" y="95026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7661960" y="111485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7661960" y="127944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7661960" y="144404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7661960" y="160863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7661960" y="177322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7661960" y="193781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7661960" y="210240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7661960" y="226700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7661960" y="243159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7826552" y="62108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7826552" y="78567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7826552" y="95026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7826552" y="111485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7826552" y="127944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7826552" y="144404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7826552" y="160863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7826552" y="177322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7826552" y="193781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7826552" y="210240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7826552" y="226700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7826552" y="243159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7991144" y="62108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7991144" y="78567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7991144" y="95026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7991144" y="111485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7991144" y="127944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7991144" y="144404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7991144" y="160863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7991144" y="177322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7991144" y="193781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7991144" y="210240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7991144" y="226700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7991144" y="243159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8155736" y="62108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8155736" y="78567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8155736" y="95026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8155736" y="111485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8155736" y="127944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8155736" y="144404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8155736" y="160863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8155736" y="177322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8155736" y="193781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8155736" y="210240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8155736" y="226700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8155736" y="243159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8320328" y="62108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8320328" y="78567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8320328" y="95026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8320328" y="111485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8320328" y="127944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8320328" y="144404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8320328" y="160863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8320328" y="177322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8320328" y="193781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8320328" y="210240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8320328" y="226700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8320328" y="243159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8484920" y="62108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8484920" y="78567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8484920" y="95026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8484920" y="111485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8484920" y="127944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8484920" y="144404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8484920" y="160863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8484920" y="177322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8484920" y="193781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8484920" y="210240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8484920" y="226700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8484920" y="243159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8649512" y="62108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8649512" y="78567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8649512" y="95026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8649512" y="111485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8649512" y="127944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8649512" y="144404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8649512" y="160863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8649512" y="177322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8649512" y="193781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8649512" y="210240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8649512" y="226700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8649512" y="243159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8814104" y="62108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8814104" y="78567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8814104" y="95026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8814104" y="111485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8814104" y="127944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8814104" y="144404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8814104" y="160863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8814104" y="177322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8814104" y="193781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8814104" y="210240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8814104" y="226700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8814104" y="243159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8978696" y="62108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8978696" y="78567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8978696" y="95026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8978696" y="111485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8978696" y="127944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8978696" y="144404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8978696" y="160863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8978696" y="177322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8978696" y="193781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8978696" y="210240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8978696" y="226700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8978696" y="243159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9143288" y="62108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9143288" y="78567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9143288" y="95026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9143288" y="111485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Oval 294"/>
          <p:cNvSpPr/>
          <p:nvPr/>
        </p:nvSpPr>
        <p:spPr>
          <a:xfrm>
            <a:off x="9143288" y="127944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Oval 295"/>
          <p:cNvSpPr/>
          <p:nvPr/>
        </p:nvSpPr>
        <p:spPr>
          <a:xfrm>
            <a:off x="9143288" y="144404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Oval 296"/>
          <p:cNvSpPr/>
          <p:nvPr/>
        </p:nvSpPr>
        <p:spPr>
          <a:xfrm>
            <a:off x="9143288" y="160863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Oval 297"/>
          <p:cNvSpPr/>
          <p:nvPr/>
        </p:nvSpPr>
        <p:spPr>
          <a:xfrm>
            <a:off x="9143288" y="177322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Oval 298"/>
          <p:cNvSpPr/>
          <p:nvPr/>
        </p:nvSpPr>
        <p:spPr>
          <a:xfrm>
            <a:off x="9143288" y="193781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Oval 299"/>
          <p:cNvSpPr/>
          <p:nvPr/>
        </p:nvSpPr>
        <p:spPr>
          <a:xfrm>
            <a:off x="9143288" y="210240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Oval 300"/>
          <p:cNvSpPr/>
          <p:nvPr/>
        </p:nvSpPr>
        <p:spPr>
          <a:xfrm>
            <a:off x="9143288" y="226700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Oval 301"/>
          <p:cNvSpPr/>
          <p:nvPr/>
        </p:nvSpPr>
        <p:spPr>
          <a:xfrm>
            <a:off x="9143288" y="243159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Oval 302"/>
          <p:cNvSpPr/>
          <p:nvPr/>
        </p:nvSpPr>
        <p:spPr>
          <a:xfrm>
            <a:off x="9307880" y="62108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Oval 303"/>
          <p:cNvSpPr/>
          <p:nvPr/>
        </p:nvSpPr>
        <p:spPr>
          <a:xfrm>
            <a:off x="9307880" y="78567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Oval 304"/>
          <p:cNvSpPr/>
          <p:nvPr/>
        </p:nvSpPr>
        <p:spPr>
          <a:xfrm>
            <a:off x="9307880" y="95026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Oval 305"/>
          <p:cNvSpPr/>
          <p:nvPr/>
        </p:nvSpPr>
        <p:spPr>
          <a:xfrm>
            <a:off x="9307880" y="111485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9307880" y="127944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9307880" y="144404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xfrm>
            <a:off x="9307880" y="160863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9307880" y="177322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>
            <a:off x="9307880" y="193781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9307880" y="210240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>
            <a:off x="9307880" y="226700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xfrm>
            <a:off x="9307880" y="243159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9472472" y="62108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xfrm>
            <a:off x="9472472" y="78567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>
            <a:off x="9472472" y="95026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9472472" y="111485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>
            <a:off x="9472472" y="127944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Oval 319"/>
          <p:cNvSpPr/>
          <p:nvPr/>
        </p:nvSpPr>
        <p:spPr>
          <a:xfrm>
            <a:off x="9472472" y="144404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>
            <a:off x="9472472" y="160863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xfrm>
            <a:off x="9472472" y="177322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9472472" y="193781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9472472" y="210240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9472472" y="226700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Oval 325"/>
          <p:cNvSpPr/>
          <p:nvPr/>
        </p:nvSpPr>
        <p:spPr>
          <a:xfrm>
            <a:off x="9472472" y="243159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Oval 326"/>
          <p:cNvSpPr/>
          <p:nvPr/>
        </p:nvSpPr>
        <p:spPr>
          <a:xfrm>
            <a:off x="9637064" y="62108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Oval 327"/>
          <p:cNvSpPr/>
          <p:nvPr/>
        </p:nvSpPr>
        <p:spPr>
          <a:xfrm>
            <a:off x="9637064" y="78567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Oval 328"/>
          <p:cNvSpPr/>
          <p:nvPr/>
        </p:nvSpPr>
        <p:spPr>
          <a:xfrm>
            <a:off x="9637064" y="95026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Oval 329"/>
          <p:cNvSpPr/>
          <p:nvPr/>
        </p:nvSpPr>
        <p:spPr>
          <a:xfrm>
            <a:off x="9637064" y="111485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Oval 330"/>
          <p:cNvSpPr/>
          <p:nvPr/>
        </p:nvSpPr>
        <p:spPr>
          <a:xfrm>
            <a:off x="9637064" y="127944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Oval 331"/>
          <p:cNvSpPr/>
          <p:nvPr/>
        </p:nvSpPr>
        <p:spPr>
          <a:xfrm>
            <a:off x="9637064" y="144404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Oval 332"/>
          <p:cNvSpPr/>
          <p:nvPr/>
        </p:nvSpPr>
        <p:spPr>
          <a:xfrm>
            <a:off x="9637064" y="160863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Oval 333"/>
          <p:cNvSpPr/>
          <p:nvPr/>
        </p:nvSpPr>
        <p:spPr>
          <a:xfrm>
            <a:off x="9637064" y="177322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Oval 334"/>
          <p:cNvSpPr/>
          <p:nvPr/>
        </p:nvSpPr>
        <p:spPr>
          <a:xfrm>
            <a:off x="9637064" y="193781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Oval 335"/>
          <p:cNvSpPr/>
          <p:nvPr/>
        </p:nvSpPr>
        <p:spPr>
          <a:xfrm>
            <a:off x="9637064" y="210240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Oval 336"/>
          <p:cNvSpPr/>
          <p:nvPr/>
        </p:nvSpPr>
        <p:spPr>
          <a:xfrm>
            <a:off x="9637064" y="226700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Oval 337"/>
          <p:cNvSpPr/>
          <p:nvPr/>
        </p:nvSpPr>
        <p:spPr>
          <a:xfrm>
            <a:off x="9637064" y="243159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Oval 338"/>
          <p:cNvSpPr/>
          <p:nvPr/>
        </p:nvSpPr>
        <p:spPr>
          <a:xfrm>
            <a:off x="9801656" y="62108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Oval 339"/>
          <p:cNvSpPr/>
          <p:nvPr/>
        </p:nvSpPr>
        <p:spPr>
          <a:xfrm>
            <a:off x="9801656" y="78567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Oval 340"/>
          <p:cNvSpPr/>
          <p:nvPr/>
        </p:nvSpPr>
        <p:spPr>
          <a:xfrm>
            <a:off x="9801656" y="95026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Oval 341"/>
          <p:cNvSpPr/>
          <p:nvPr/>
        </p:nvSpPr>
        <p:spPr>
          <a:xfrm>
            <a:off x="9801656" y="111485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>
            <a:off x="9801656" y="127944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Oval 343"/>
          <p:cNvSpPr/>
          <p:nvPr/>
        </p:nvSpPr>
        <p:spPr>
          <a:xfrm>
            <a:off x="9801656" y="144404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Oval 344"/>
          <p:cNvSpPr/>
          <p:nvPr/>
        </p:nvSpPr>
        <p:spPr>
          <a:xfrm>
            <a:off x="9801656" y="160863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Oval 345"/>
          <p:cNvSpPr/>
          <p:nvPr/>
        </p:nvSpPr>
        <p:spPr>
          <a:xfrm>
            <a:off x="9801656" y="177322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Oval 346"/>
          <p:cNvSpPr/>
          <p:nvPr/>
        </p:nvSpPr>
        <p:spPr>
          <a:xfrm>
            <a:off x="9801656" y="193781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Oval 347"/>
          <p:cNvSpPr/>
          <p:nvPr/>
        </p:nvSpPr>
        <p:spPr>
          <a:xfrm>
            <a:off x="9801656" y="210240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Oval 348"/>
          <p:cNvSpPr/>
          <p:nvPr/>
        </p:nvSpPr>
        <p:spPr>
          <a:xfrm>
            <a:off x="9801656" y="226700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Oval 349"/>
          <p:cNvSpPr/>
          <p:nvPr/>
        </p:nvSpPr>
        <p:spPr>
          <a:xfrm>
            <a:off x="9801656" y="243159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Oval 350"/>
          <p:cNvSpPr/>
          <p:nvPr/>
        </p:nvSpPr>
        <p:spPr>
          <a:xfrm>
            <a:off x="9966248" y="62108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Oval 351"/>
          <p:cNvSpPr/>
          <p:nvPr/>
        </p:nvSpPr>
        <p:spPr>
          <a:xfrm>
            <a:off x="9966248" y="78567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Oval 352"/>
          <p:cNvSpPr/>
          <p:nvPr/>
        </p:nvSpPr>
        <p:spPr>
          <a:xfrm>
            <a:off x="9966248" y="95026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Oval 353"/>
          <p:cNvSpPr/>
          <p:nvPr/>
        </p:nvSpPr>
        <p:spPr>
          <a:xfrm>
            <a:off x="9966248" y="111485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Oval 354"/>
          <p:cNvSpPr/>
          <p:nvPr/>
        </p:nvSpPr>
        <p:spPr>
          <a:xfrm>
            <a:off x="9966248" y="127944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Oval 355"/>
          <p:cNvSpPr/>
          <p:nvPr/>
        </p:nvSpPr>
        <p:spPr>
          <a:xfrm>
            <a:off x="9966248" y="144404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Oval 356"/>
          <p:cNvSpPr/>
          <p:nvPr/>
        </p:nvSpPr>
        <p:spPr>
          <a:xfrm>
            <a:off x="9966248" y="160863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Oval 357"/>
          <p:cNvSpPr/>
          <p:nvPr/>
        </p:nvSpPr>
        <p:spPr>
          <a:xfrm>
            <a:off x="9966248" y="177322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Oval 358"/>
          <p:cNvSpPr/>
          <p:nvPr/>
        </p:nvSpPr>
        <p:spPr>
          <a:xfrm>
            <a:off x="9966248" y="193781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Oval 359"/>
          <p:cNvSpPr/>
          <p:nvPr/>
        </p:nvSpPr>
        <p:spPr>
          <a:xfrm>
            <a:off x="9966248" y="210240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Oval 360"/>
          <p:cNvSpPr/>
          <p:nvPr/>
        </p:nvSpPr>
        <p:spPr>
          <a:xfrm>
            <a:off x="9966248" y="226700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Oval 361"/>
          <p:cNvSpPr/>
          <p:nvPr/>
        </p:nvSpPr>
        <p:spPr>
          <a:xfrm>
            <a:off x="9966248" y="243159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Oval 362"/>
          <p:cNvSpPr/>
          <p:nvPr/>
        </p:nvSpPr>
        <p:spPr>
          <a:xfrm>
            <a:off x="10130840" y="62108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Oval 363"/>
          <p:cNvSpPr/>
          <p:nvPr/>
        </p:nvSpPr>
        <p:spPr>
          <a:xfrm>
            <a:off x="10130840" y="78567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Oval 364"/>
          <p:cNvSpPr/>
          <p:nvPr/>
        </p:nvSpPr>
        <p:spPr>
          <a:xfrm>
            <a:off x="10130840" y="95026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Oval 365"/>
          <p:cNvSpPr/>
          <p:nvPr/>
        </p:nvSpPr>
        <p:spPr>
          <a:xfrm>
            <a:off x="10130840" y="111485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Oval 366"/>
          <p:cNvSpPr/>
          <p:nvPr/>
        </p:nvSpPr>
        <p:spPr>
          <a:xfrm>
            <a:off x="10130840" y="127944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Oval 367"/>
          <p:cNvSpPr/>
          <p:nvPr/>
        </p:nvSpPr>
        <p:spPr>
          <a:xfrm>
            <a:off x="10130840" y="144404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Oval 368"/>
          <p:cNvSpPr/>
          <p:nvPr/>
        </p:nvSpPr>
        <p:spPr>
          <a:xfrm>
            <a:off x="10130840" y="160863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Oval 369"/>
          <p:cNvSpPr/>
          <p:nvPr/>
        </p:nvSpPr>
        <p:spPr>
          <a:xfrm>
            <a:off x="10130840" y="177322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Oval 370"/>
          <p:cNvSpPr/>
          <p:nvPr/>
        </p:nvSpPr>
        <p:spPr>
          <a:xfrm>
            <a:off x="10130840" y="193781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Oval 371"/>
          <p:cNvSpPr/>
          <p:nvPr/>
        </p:nvSpPr>
        <p:spPr>
          <a:xfrm>
            <a:off x="10130840" y="210240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Oval 372"/>
          <p:cNvSpPr/>
          <p:nvPr/>
        </p:nvSpPr>
        <p:spPr>
          <a:xfrm>
            <a:off x="10130840" y="226700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Oval 373"/>
          <p:cNvSpPr/>
          <p:nvPr/>
        </p:nvSpPr>
        <p:spPr>
          <a:xfrm>
            <a:off x="10130840" y="243159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Oval 374"/>
          <p:cNvSpPr/>
          <p:nvPr/>
        </p:nvSpPr>
        <p:spPr>
          <a:xfrm>
            <a:off x="10295432" y="62108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Oval 375"/>
          <p:cNvSpPr/>
          <p:nvPr/>
        </p:nvSpPr>
        <p:spPr>
          <a:xfrm>
            <a:off x="10295432" y="78567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Oval 376"/>
          <p:cNvSpPr/>
          <p:nvPr/>
        </p:nvSpPr>
        <p:spPr>
          <a:xfrm>
            <a:off x="10295432" y="95026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Oval 377"/>
          <p:cNvSpPr/>
          <p:nvPr/>
        </p:nvSpPr>
        <p:spPr>
          <a:xfrm>
            <a:off x="10295432" y="111485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Oval 378"/>
          <p:cNvSpPr/>
          <p:nvPr/>
        </p:nvSpPr>
        <p:spPr>
          <a:xfrm>
            <a:off x="10295432" y="127944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Oval 379"/>
          <p:cNvSpPr/>
          <p:nvPr/>
        </p:nvSpPr>
        <p:spPr>
          <a:xfrm>
            <a:off x="10295432" y="144404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Oval 380"/>
          <p:cNvSpPr/>
          <p:nvPr/>
        </p:nvSpPr>
        <p:spPr>
          <a:xfrm>
            <a:off x="10295432" y="160863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Oval 381"/>
          <p:cNvSpPr/>
          <p:nvPr/>
        </p:nvSpPr>
        <p:spPr>
          <a:xfrm>
            <a:off x="10295432" y="177322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Oval 382"/>
          <p:cNvSpPr/>
          <p:nvPr/>
        </p:nvSpPr>
        <p:spPr>
          <a:xfrm>
            <a:off x="10295432" y="193781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Oval 383"/>
          <p:cNvSpPr/>
          <p:nvPr/>
        </p:nvSpPr>
        <p:spPr>
          <a:xfrm>
            <a:off x="10295432" y="210240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Oval 384"/>
          <p:cNvSpPr/>
          <p:nvPr/>
        </p:nvSpPr>
        <p:spPr>
          <a:xfrm>
            <a:off x="10295432" y="226700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Oval 385"/>
          <p:cNvSpPr/>
          <p:nvPr/>
        </p:nvSpPr>
        <p:spPr>
          <a:xfrm>
            <a:off x="10295432" y="243159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Oval 386"/>
          <p:cNvSpPr/>
          <p:nvPr/>
        </p:nvSpPr>
        <p:spPr>
          <a:xfrm>
            <a:off x="10460024" y="62108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Oval 387"/>
          <p:cNvSpPr/>
          <p:nvPr/>
        </p:nvSpPr>
        <p:spPr>
          <a:xfrm>
            <a:off x="10460024" y="78567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Oval 388"/>
          <p:cNvSpPr/>
          <p:nvPr/>
        </p:nvSpPr>
        <p:spPr>
          <a:xfrm>
            <a:off x="10460024" y="95026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Oval 389"/>
          <p:cNvSpPr/>
          <p:nvPr/>
        </p:nvSpPr>
        <p:spPr>
          <a:xfrm>
            <a:off x="10460024" y="111485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Oval 390"/>
          <p:cNvSpPr/>
          <p:nvPr/>
        </p:nvSpPr>
        <p:spPr>
          <a:xfrm>
            <a:off x="10460024" y="127944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Oval 391"/>
          <p:cNvSpPr/>
          <p:nvPr/>
        </p:nvSpPr>
        <p:spPr>
          <a:xfrm>
            <a:off x="10460024" y="144404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Oval 392"/>
          <p:cNvSpPr/>
          <p:nvPr/>
        </p:nvSpPr>
        <p:spPr>
          <a:xfrm>
            <a:off x="10460024" y="160863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Oval 393"/>
          <p:cNvSpPr/>
          <p:nvPr/>
        </p:nvSpPr>
        <p:spPr>
          <a:xfrm>
            <a:off x="10460024" y="177322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Oval 394"/>
          <p:cNvSpPr/>
          <p:nvPr/>
        </p:nvSpPr>
        <p:spPr>
          <a:xfrm>
            <a:off x="10460024" y="193781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Oval 395"/>
          <p:cNvSpPr/>
          <p:nvPr/>
        </p:nvSpPr>
        <p:spPr>
          <a:xfrm>
            <a:off x="10460024" y="210240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Oval 396"/>
          <p:cNvSpPr/>
          <p:nvPr/>
        </p:nvSpPr>
        <p:spPr>
          <a:xfrm>
            <a:off x="10460024" y="226700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Oval 397"/>
          <p:cNvSpPr/>
          <p:nvPr/>
        </p:nvSpPr>
        <p:spPr>
          <a:xfrm>
            <a:off x="10460024" y="243159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Oval 398"/>
          <p:cNvSpPr/>
          <p:nvPr/>
        </p:nvSpPr>
        <p:spPr>
          <a:xfrm>
            <a:off x="10624616" y="62108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Oval 399"/>
          <p:cNvSpPr/>
          <p:nvPr/>
        </p:nvSpPr>
        <p:spPr>
          <a:xfrm>
            <a:off x="10624616" y="78567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Oval 400"/>
          <p:cNvSpPr/>
          <p:nvPr/>
        </p:nvSpPr>
        <p:spPr>
          <a:xfrm>
            <a:off x="10624616" y="95026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Oval 401"/>
          <p:cNvSpPr/>
          <p:nvPr/>
        </p:nvSpPr>
        <p:spPr>
          <a:xfrm>
            <a:off x="10624616" y="111485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Oval 402"/>
          <p:cNvSpPr/>
          <p:nvPr/>
        </p:nvSpPr>
        <p:spPr>
          <a:xfrm>
            <a:off x="10624616" y="127944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Oval 403"/>
          <p:cNvSpPr/>
          <p:nvPr/>
        </p:nvSpPr>
        <p:spPr>
          <a:xfrm>
            <a:off x="10624616" y="144404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Oval 404"/>
          <p:cNvSpPr/>
          <p:nvPr/>
        </p:nvSpPr>
        <p:spPr>
          <a:xfrm>
            <a:off x="10624616" y="160863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Oval 405"/>
          <p:cNvSpPr/>
          <p:nvPr/>
        </p:nvSpPr>
        <p:spPr>
          <a:xfrm>
            <a:off x="10624616" y="177322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Oval 406"/>
          <p:cNvSpPr/>
          <p:nvPr/>
        </p:nvSpPr>
        <p:spPr>
          <a:xfrm>
            <a:off x="10624616" y="193781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Oval 407"/>
          <p:cNvSpPr/>
          <p:nvPr/>
        </p:nvSpPr>
        <p:spPr>
          <a:xfrm>
            <a:off x="10624616" y="210240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Oval 408"/>
          <p:cNvSpPr/>
          <p:nvPr/>
        </p:nvSpPr>
        <p:spPr>
          <a:xfrm>
            <a:off x="10624616" y="226700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Oval 409"/>
          <p:cNvSpPr/>
          <p:nvPr/>
        </p:nvSpPr>
        <p:spPr>
          <a:xfrm>
            <a:off x="10624616" y="243159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Oval 410"/>
          <p:cNvSpPr/>
          <p:nvPr/>
        </p:nvSpPr>
        <p:spPr>
          <a:xfrm>
            <a:off x="10789208" y="62108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Oval 411"/>
          <p:cNvSpPr/>
          <p:nvPr/>
        </p:nvSpPr>
        <p:spPr>
          <a:xfrm>
            <a:off x="10789208" y="78567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Oval 412"/>
          <p:cNvSpPr/>
          <p:nvPr/>
        </p:nvSpPr>
        <p:spPr>
          <a:xfrm>
            <a:off x="10789208" y="95026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Oval 413"/>
          <p:cNvSpPr/>
          <p:nvPr/>
        </p:nvSpPr>
        <p:spPr>
          <a:xfrm>
            <a:off x="10789208" y="111485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Oval 414"/>
          <p:cNvSpPr/>
          <p:nvPr/>
        </p:nvSpPr>
        <p:spPr>
          <a:xfrm>
            <a:off x="10789208" y="127944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Oval 415"/>
          <p:cNvSpPr/>
          <p:nvPr/>
        </p:nvSpPr>
        <p:spPr>
          <a:xfrm>
            <a:off x="10789208" y="144404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Oval 416"/>
          <p:cNvSpPr/>
          <p:nvPr/>
        </p:nvSpPr>
        <p:spPr>
          <a:xfrm>
            <a:off x="10789208" y="160863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Oval 417"/>
          <p:cNvSpPr/>
          <p:nvPr/>
        </p:nvSpPr>
        <p:spPr>
          <a:xfrm>
            <a:off x="10789208" y="177322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Oval 418"/>
          <p:cNvSpPr/>
          <p:nvPr/>
        </p:nvSpPr>
        <p:spPr>
          <a:xfrm>
            <a:off x="10789208" y="193781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Oval 419"/>
          <p:cNvSpPr/>
          <p:nvPr/>
        </p:nvSpPr>
        <p:spPr>
          <a:xfrm>
            <a:off x="10789208" y="210240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Oval 420"/>
          <p:cNvSpPr/>
          <p:nvPr/>
        </p:nvSpPr>
        <p:spPr>
          <a:xfrm>
            <a:off x="10789208" y="226700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Oval 421"/>
          <p:cNvSpPr/>
          <p:nvPr/>
        </p:nvSpPr>
        <p:spPr>
          <a:xfrm>
            <a:off x="10789208" y="243159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Oval 422"/>
          <p:cNvSpPr/>
          <p:nvPr/>
        </p:nvSpPr>
        <p:spPr>
          <a:xfrm>
            <a:off x="10953800" y="62108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Oval 423"/>
          <p:cNvSpPr/>
          <p:nvPr/>
        </p:nvSpPr>
        <p:spPr>
          <a:xfrm>
            <a:off x="10953800" y="78567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Oval 424"/>
          <p:cNvSpPr/>
          <p:nvPr/>
        </p:nvSpPr>
        <p:spPr>
          <a:xfrm>
            <a:off x="10953800" y="95026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Oval 425"/>
          <p:cNvSpPr/>
          <p:nvPr/>
        </p:nvSpPr>
        <p:spPr>
          <a:xfrm>
            <a:off x="10953800" y="111485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Oval 426"/>
          <p:cNvSpPr/>
          <p:nvPr/>
        </p:nvSpPr>
        <p:spPr>
          <a:xfrm>
            <a:off x="10953800" y="127944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Oval 427"/>
          <p:cNvSpPr/>
          <p:nvPr/>
        </p:nvSpPr>
        <p:spPr>
          <a:xfrm>
            <a:off x="10953800" y="144404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Oval 428"/>
          <p:cNvSpPr/>
          <p:nvPr/>
        </p:nvSpPr>
        <p:spPr>
          <a:xfrm>
            <a:off x="10953800" y="160863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Oval 429"/>
          <p:cNvSpPr/>
          <p:nvPr/>
        </p:nvSpPr>
        <p:spPr>
          <a:xfrm>
            <a:off x="10953800" y="177322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Oval 430"/>
          <p:cNvSpPr/>
          <p:nvPr/>
        </p:nvSpPr>
        <p:spPr>
          <a:xfrm>
            <a:off x="10953800" y="193781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Oval 431"/>
          <p:cNvSpPr/>
          <p:nvPr/>
        </p:nvSpPr>
        <p:spPr>
          <a:xfrm>
            <a:off x="10953800" y="210240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Oval 432"/>
          <p:cNvSpPr/>
          <p:nvPr/>
        </p:nvSpPr>
        <p:spPr>
          <a:xfrm>
            <a:off x="10953800" y="226700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Oval 433"/>
          <p:cNvSpPr/>
          <p:nvPr/>
        </p:nvSpPr>
        <p:spPr>
          <a:xfrm>
            <a:off x="10953800" y="243159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Oval 434"/>
          <p:cNvSpPr/>
          <p:nvPr/>
        </p:nvSpPr>
        <p:spPr>
          <a:xfrm>
            <a:off x="11118392" y="62108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Oval 435"/>
          <p:cNvSpPr/>
          <p:nvPr/>
        </p:nvSpPr>
        <p:spPr>
          <a:xfrm>
            <a:off x="11118392" y="78567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Oval 436"/>
          <p:cNvSpPr/>
          <p:nvPr/>
        </p:nvSpPr>
        <p:spPr>
          <a:xfrm>
            <a:off x="11118392" y="95026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Oval 437"/>
          <p:cNvSpPr/>
          <p:nvPr/>
        </p:nvSpPr>
        <p:spPr>
          <a:xfrm>
            <a:off x="11118392" y="111485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Oval 438"/>
          <p:cNvSpPr/>
          <p:nvPr/>
        </p:nvSpPr>
        <p:spPr>
          <a:xfrm>
            <a:off x="11118392" y="127944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Oval 439"/>
          <p:cNvSpPr/>
          <p:nvPr/>
        </p:nvSpPr>
        <p:spPr>
          <a:xfrm>
            <a:off x="11118392" y="144404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Oval 440"/>
          <p:cNvSpPr/>
          <p:nvPr/>
        </p:nvSpPr>
        <p:spPr>
          <a:xfrm>
            <a:off x="11118392" y="160863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Oval 441"/>
          <p:cNvSpPr/>
          <p:nvPr/>
        </p:nvSpPr>
        <p:spPr>
          <a:xfrm>
            <a:off x="11118392" y="177322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Oval 442"/>
          <p:cNvSpPr/>
          <p:nvPr/>
        </p:nvSpPr>
        <p:spPr>
          <a:xfrm>
            <a:off x="11118392" y="193781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Oval 443"/>
          <p:cNvSpPr/>
          <p:nvPr/>
        </p:nvSpPr>
        <p:spPr>
          <a:xfrm>
            <a:off x="11118392" y="210240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Oval 444"/>
          <p:cNvSpPr/>
          <p:nvPr/>
        </p:nvSpPr>
        <p:spPr>
          <a:xfrm>
            <a:off x="11118392" y="226700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Oval 445"/>
          <p:cNvSpPr/>
          <p:nvPr/>
        </p:nvSpPr>
        <p:spPr>
          <a:xfrm>
            <a:off x="11118392" y="243159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Oval 446"/>
          <p:cNvSpPr/>
          <p:nvPr/>
        </p:nvSpPr>
        <p:spPr>
          <a:xfrm>
            <a:off x="11282984" y="62108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Oval 447"/>
          <p:cNvSpPr/>
          <p:nvPr/>
        </p:nvSpPr>
        <p:spPr>
          <a:xfrm>
            <a:off x="11282984" y="78567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Oval 448"/>
          <p:cNvSpPr/>
          <p:nvPr/>
        </p:nvSpPr>
        <p:spPr>
          <a:xfrm>
            <a:off x="11282984" y="95026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Oval 449"/>
          <p:cNvSpPr/>
          <p:nvPr/>
        </p:nvSpPr>
        <p:spPr>
          <a:xfrm>
            <a:off x="11282984" y="111485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Oval 450"/>
          <p:cNvSpPr/>
          <p:nvPr/>
        </p:nvSpPr>
        <p:spPr>
          <a:xfrm>
            <a:off x="11282984" y="127944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Oval 451"/>
          <p:cNvSpPr/>
          <p:nvPr/>
        </p:nvSpPr>
        <p:spPr>
          <a:xfrm>
            <a:off x="11282984" y="144404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Oval 452"/>
          <p:cNvSpPr/>
          <p:nvPr/>
        </p:nvSpPr>
        <p:spPr>
          <a:xfrm>
            <a:off x="11282984" y="160863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Oval 453"/>
          <p:cNvSpPr/>
          <p:nvPr/>
        </p:nvSpPr>
        <p:spPr>
          <a:xfrm>
            <a:off x="11282984" y="177322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Oval 454"/>
          <p:cNvSpPr/>
          <p:nvPr/>
        </p:nvSpPr>
        <p:spPr>
          <a:xfrm>
            <a:off x="11282984" y="193781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Oval 455"/>
          <p:cNvSpPr/>
          <p:nvPr/>
        </p:nvSpPr>
        <p:spPr>
          <a:xfrm>
            <a:off x="11282984" y="210240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Oval 456"/>
          <p:cNvSpPr/>
          <p:nvPr/>
        </p:nvSpPr>
        <p:spPr>
          <a:xfrm>
            <a:off x="11282984" y="226700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Oval 457"/>
          <p:cNvSpPr/>
          <p:nvPr/>
        </p:nvSpPr>
        <p:spPr>
          <a:xfrm>
            <a:off x="11282984" y="243159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Oval 458"/>
          <p:cNvSpPr/>
          <p:nvPr/>
        </p:nvSpPr>
        <p:spPr>
          <a:xfrm>
            <a:off x="11447576" y="62108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Oval 459"/>
          <p:cNvSpPr/>
          <p:nvPr/>
        </p:nvSpPr>
        <p:spPr>
          <a:xfrm>
            <a:off x="11447576" y="78567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Oval 460"/>
          <p:cNvSpPr/>
          <p:nvPr/>
        </p:nvSpPr>
        <p:spPr>
          <a:xfrm>
            <a:off x="11447576" y="95026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Oval 461"/>
          <p:cNvSpPr/>
          <p:nvPr/>
        </p:nvSpPr>
        <p:spPr>
          <a:xfrm>
            <a:off x="11447576" y="111485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Oval 462"/>
          <p:cNvSpPr/>
          <p:nvPr/>
        </p:nvSpPr>
        <p:spPr>
          <a:xfrm>
            <a:off x="11447576" y="127944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Oval 463"/>
          <p:cNvSpPr/>
          <p:nvPr/>
        </p:nvSpPr>
        <p:spPr>
          <a:xfrm>
            <a:off x="11447576" y="144404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Oval 464"/>
          <p:cNvSpPr/>
          <p:nvPr/>
        </p:nvSpPr>
        <p:spPr>
          <a:xfrm>
            <a:off x="11447576" y="160863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Oval 465"/>
          <p:cNvSpPr/>
          <p:nvPr/>
        </p:nvSpPr>
        <p:spPr>
          <a:xfrm>
            <a:off x="11447576" y="177322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Oval 466"/>
          <p:cNvSpPr/>
          <p:nvPr/>
        </p:nvSpPr>
        <p:spPr>
          <a:xfrm>
            <a:off x="11447576" y="193781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Oval 467"/>
          <p:cNvSpPr/>
          <p:nvPr/>
        </p:nvSpPr>
        <p:spPr>
          <a:xfrm>
            <a:off x="11447576" y="210240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Oval 468"/>
          <p:cNvSpPr/>
          <p:nvPr/>
        </p:nvSpPr>
        <p:spPr>
          <a:xfrm>
            <a:off x="11447576" y="226700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Oval 469"/>
          <p:cNvSpPr/>
          <p:nvPr/>
        </p:nvSpPr>
        <p:spPr>
          <a:xfrm>
            <a:off x="11447576" y="243159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Oval 470"/>
          <p:cNvSpPr/>
          <p:nvPr/>
        </p:nvSpPr>
        <p:spPr>
          <a:xfrm>
            <a:off x="11612168" y="62108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Oval 471"/>
          <p:cNvSpPr/>
          <p:nvPr/>
        </p:nvSpPr>
        <p:spPr>
          <a:xfrm>
            <a:off x="11612168" y="78567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Oval 472"/>
          <p:cNvSpPr/>
          <p:nvPr/>
        </p:nvSpPr>
        <p:spPr>
          <a:xfrm>
            <a:off x="11612168" y="95026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Oval 473"/>
          <p:cNvSpPr/>
          <p:nvPr/>
        </p:nvSpPr>
        <p:spPr>
          <a:xfrm>
            <a:off x="11612168" y="111485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Oval 474"/>
          <p:cNvSpPr/>
          <p:nvPr/>
        </p:nvSpPr>
        <p:spPr>
          <a:xfrm>
            <a:off x="11612168" y="127944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Oval 475"/>
          <p:cNvSpPr/>
          <p:nvPr/>
        </p:nvSpPr>
        <p:spPr>
          <a:xfrm>
            <a:off x="11612168" y="144404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Oval 476"/>
          <p:cNvSpPr/>
          <p:nvPr/>
        </p:nvSpPr>
        <p:spPr>
          <a:xfrm>
            <a:off x="11612168" y="160863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Oval 477"/>
          <p:cNvSpPr/>
          <p:nvPr/>
        </p:nvSpPr>
        <p:spPr>
          <a:xfrm>
            <a:off x="11612168" y="177322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Oval 478"/>
          <p:cNvSpPr/>
          <p:nvPr/>
        </p:nvSpPr>
        <p:spPr>
          <a:xfrm>
            <a:off x="11612168" y="193781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Oval 479"/>
          <p:cNvSpPr/>
          <p:nvPr/>
        </p:nvSpPr>
        <p:spPr>
          <a:xfrm>
            <a:off x="11612168" y="210240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Oval 480"/>
          <p:cNvSpPr/>
          <p:nvPr/>
        </p:nvSpPr>
        <p:spPr>
          <a:xfrm>
            <a:off x="11612168" y="226700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Oval 481"/>
          <p:cNvSpPr/>
          <p:nvPr/>
        </p:nvSpPr>
        <p:spPr>
          <a:xfrm>
            <a:off x="11612168" y="243159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Oval 482"/>
          <p:cNvSpPr/>
          <p:nvPr/>
        </p:nvSpPr>
        <p:spPr>
          <a:xfrm>
            <a:off x="11776760" y="62108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Oval 483"/>
          <p:cNvSpPr/>
          <p:nvPr/>
        </p:nvSpPr>
        <p:spPr>
          <a:xfrm>
            <a:off x="11776760" y="78567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Oval 484"/>
          <p:cNvSpPr/>
          <p:nvPr/>
        </p:nvSpPr>
        <p:spPr>
          <a:xfrm>
            <a:off x="11776760" y="95026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Oval 485"/>
          <p:cNvSpPr/>
          <p:nvPr/>
        </p:nvSpPr>
        <p:spPr>
          <a:xfrm>
            <a:off x="11776760" y="111485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Oval 486"/>
          <p:cNvSpPr/>
          <p:nvPr/>
        </p:nvSpPr>
        <p:spPr>
          <a:xfrm>
            <a:off x="11776760" y="127944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Oval 487"/>
          <p:cNvSpPr/>
          <p:nvPr/>
        </p:nvSpPr>
        <p:spPr>
          <a:xfrm>
            <a:off x="11776760" y="144404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Oval 488"/>
          <p:cNvSpPr/>
          <p:nvPr/>
        </p:nvSpPr>
        <p:spPr>
          <a:xfrm>
            <a:off x="11776760" y="160863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" name="Oval 489"/>
          <p:cNvSpPr/>
          <p:nvPr/>
        </p:nvSpPr>
        <p:spPr>
          <a:xfrm>
            <a:off x="11776760" y="177322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Oval 490"/>
          <p:cNvSpPr/>
          <p:nvPr/>
        </p:nvSpPr>
        <p:spPr>
          <a:xfrm>
            <a:off x="11776760" y="193781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Oval 491"/>
          <p:cNvSpPr/>
          <p:nvPr/>
        </p:nvSpPr>
        <p:spPr>
          <a:xfrm>
            <a:off x="11776760" y="210240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" name="Oval 492"/>
          <p:cNvSpPr/>
          <p:nvPr/>
        </p:nvSpPr>
        <p:spPr>
          <a:xfrm>
            <a:off x="11776760" y="226700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Oval 493"/>
          <p:cNvSpPr/>
          <p:nvPr/>
        </p:nvSpPr>
        <p:spPr>
          <a:xfrm>
            <a:off x="11776760" y="243159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Oval 494"/>
          <p:cNvSpPr/>
          <p:nvPr/>
        </p:nvSpPr>
        <p:spPr>
          <a:xfrm>
            <a:off x="11941352" y="62108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Oval 495"/>
          <p:cNvSpPr/>
          <p:nvPr/>
        </p:nvSpPr>
        <p:spPr>
          <a:xfrm>
            <a:off x="11941352" y="78567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" name="Oval 496"/>
          <p:cNvSpPr/>
          <p:nvPr/>
        </p:nvSpPr>
        <p:spPr>
          <a:xfrm>
            <a:off x="11941352" y="95026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Oval 497"/>
          <p:cNvSpPr/>
          <p:nvPr/>
        </p:nvSpPr>
        <p:spPr>
          <a:xfrm>
            <a:off x="11941352" y="111485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" name="Oval 498"/>
          <p:cNvSpPr/>
          <p:nvPr/>
        </p:nvSpPr>
        <p:spPr>
          <a:xfrm>
            <a:off x="11941352" y="127944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Oval 499"/>
          <p:cNvSpPr/>
          <p:nvPr/>
        </p:nvSpPr>
        <p:spPr>
          <a:xfrm>
            <a:off x="11941352" y="144404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Oval 500"/>
          <p:cNvSpPr/>
          <p:nvPr/>
        </p:nvSpPr>
        <p:spPr>
          <a:xfrm>
            <a:off x="11941352" y="160863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Oval 501"/>
          <p:cNvSpPr/>
          <p:nvPr/>
        </p:nvSpPr>
        <p:spPr>
          <a:xfrm>
            <a:off x="11941352" y="1773224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Oval 502"/>
          <p:cNvSpPr/>
          <p:nvPr/>
        </p:nvSpPr>
        <p:spPr>
          <a:xfrm>
            <a:off x="11941352" y="1937816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Oval 503"/>
          <p:cNvSpPr/>
          <p:nvPr/>
        </p:nvSpPr>
        <p:spPr>
          <a:xfrm>
            <a:off x="11941352" y="2102408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" name="Oval 504"/>
          <p:cNvSpPr/>
          <p:nvPr/>
        </p:nvSpPr>
        <p:spPr>
          <a:xfrm>
            <a:off x="11941352" y="2267000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" name="Oval 505"/>
          <p:cNvSpPr/>
          <p:nvPr/>
        </p:nvSpPr>
        <p:spPr>
          <a:xfrm>
            <a:off x="11941352" y="2431592"/>
            <a:ext cx="38000" cy="38000"/>
          </a:xfrm>
          <a:prstGeom prst="ellipse">
            <a:avLst/>
          </a:prstGeom>
          <a:solidFill>
            <a:srgbClr val="E6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" name="Rectangle 506"/>
          <p:cNvSpPr/>
          <p:nvPr/>
        </p:nvSpPr>
        <p:spPr>
          <a:xfrm>
            <a:off x="548640" y="502920"/>
            <a:ext cx="2194560" cy="310896"/>
          </a:xfrm>
          <a:prstGeom prst="rect">
            <a:avLst/>
          </a:prstGeom>
          <a:solidFill>
            <a:srgbClr val="006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" name="TextBox 507"/>
          <p:cNvSpPr txBox="1"/>
          <p:nvPr/>
        </p:nvSpPr>
        <p:spPr>
          <a:xfrm>
            <a:off x="548640" y="502920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 spc="400">
                <a:solidFill>
                  <a:srgbClr val="F6F2E8"/>
                </a:solidFill>
                <a:latin typeface="Helvetica Neue"/>
              </a:rPr>
              <a:t>  FINAL PROJECT</a:t>
            </a:r>
          </a:p>
        </p:txBody>
      </p:sp>
      <p:sp>
        <p:nvSpPr>
          <p:cNvPr id="509" name="Rectangle 508"/>
          <p:cNvSpPr/>
          <p:nvPr/>
        </p:nvSpPr>
        <p:spPr>
          <a:xfrm>
            <a:off x="548640" y="1280160"/>
            <a:ext cx="201168" cy="201168"/>
          </a:xfrm>
          <a:prstGeom prst="rect">
            <a:avLst/>
          </a:prstGeom>
          <a:solidFill>
            <a:srgbClr val="B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" name="TextBox 509"/>
          <p:cNvSpPr txBox="1"/>
          <p:nvPr/>
        </p:nvSpPr>
        <p:spPr>
          <a:xfrm>
            <a:off x="868680" y="1243584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400">
                <a:solidFill>
                  <a:srgbClr val="F6F2E8"/>
                </a:solidFill>
                <a:latin typeface="Helvetica Neue"/>
              </a:rPr>
              <a:t>ONE COLLECTION  ·  ONE RECEIPT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548640" y="2011680"/>
            <a:ext cx="429768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0" i="0">
                <a:solidFill>
                  <a:srgbClr val="F6F2E8"/>
                </a:solidFill>
                <a:latin typeface="Georgia"/>
              </a:rPr>
              <a:t>QuickCart</a:t>
            </a:r>
          </a:p>
          <a:p>
            <a:pPr algn="l">
              <a:lnSpc>
                <a:spcPct val="100000"/>
              </a:lnSpc>
            </a:pPr>
            <a:r>
              <a:rPr sz="5200" b="0" i="0">
                <a:solidFill>
                  <a:srgbClr val="F6F2E8"/>
                </a:solidFill>
                <a:latin typeface="Georgia"/>
              </a:rPr>
              <a:t>Supermarket.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48640" y="4069080"/>
            <a:ext cx="42062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1">
                <a:solidFill>
                  <a:srgbClr val="CFC9BA"/>
                </a:solidFill>
                <a:latin typeface="Georgia"/>
              </a:rPr>
              <a:t>“A checkout receipt is</a:t>
            </a:r>
          </a:p>
          <a:p>
            <a:pPr algn="l">
              <a:lnSpc>
                <a:spcPct val="130000"/>
              </a:lnSpc>
            </a:pPr>
            <a:r>
              <a:rPr sz="1400" b="0" i="1">
                <a:solidFill>
                  <a:srgbClr val="CFC9BA"/>
                </a:solidFill>
                <a:latin typeface="Georgia"/>
              </a:rPr>
              <a:t>the smallest unit a manager</a:t>
            </a:r>
          </a:p>
          <a:p>
            <a:pPr algn="l">
              <a:lnSpc>
                <a:spcPct val="130000"/>
              </a:lnSpc>
            </a:pPr>
            <a:r>
              <a:rPr sz="1400" b="0" i="1">
                <a:solidFill>
                  <a:srgbClr val="CFC9BA"/>
                </a:solidFill>
                <a:latin typeface="Georgia"/>
              </a:rPr>
              <a:t>ever reads.</a:t>
            </a:r>
          </a:p>
          <a:p>
            <a:pPr algn="l">
              <a:lnSpc>
                <a:spcPct val="130000"/>
              </a:lnSpc>
            </a:pPr>
            <a:r>
              <a:rPr sz="1400" b="0" i="1">
                <a:solidFill>
                  <a:srgbClr val="CFC9BA"/>
                </a:solidFill>
                <a:latin typeface="Georgia"/>
              </a:rPr>
              <a:t>So it’s the unit we store.”</a:t>
            </a:r>
          </a:p>
        </p:txBody>
      </p:sp>
      <p:cxnSp>
        <p:nvCxnSpPr>
          <p:cNvPr id="513" name="Connector 512"/>
          <p:cNvCxnSpPr/>
          <p:nvPr/>
        </p:nvCxnSpPr>
        <p:spPr>
          <a:xfrm>
            <a:off x="548640" y="5989320"/>
            <a:ext cx="3840480" cy="0"/>
          </a:xfrm>
          <a:prstGeom prst="line">
            <a:avLst/>
          </a:prstGeom>
          <a:ln w="6350">
            <a:solidFill>
              <a:srgbClr val="353C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4" name="TextBox 513"/>
          <p:cNvSpPr txBox="1"/>
          <p:nvPr/>
        </p:nvSpPr>
        <p:spPr>
          <a:xfrm>
            <a:off x="548640" y="612648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 spc="350">
                <a:solidFill>
                  <a:srgbClr val="CFC9BA"/>
                </a:solidFill>
                <a:latin typeface="Helvetica Neue"/>
              </a:rPr>
              <a:t>BIG DATA STORAGE  ·  PRACTICAL · 70%</a:t>
            </a:r>
          </a:p>
        </p:txBody>
      </p:sp>
      <p:sp>
        <p:nvSpPr>
          <p:cNvPr id="515" name="TextBox 514"/>
          <p:cNvSpPr txBox="1"/>
          <p:nvPr/>
        </p:nvSpPr>
        <p:spPr>
          <a:xfrm>
            <a:off x="548640" y="635508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 spc="300">
                <a:solidFill>
                  <a:srgbClr val="CFC9BA"/>
                </a:solidFill>
                <a:latin typeface="Helvetica Neue"/>
              </a:rPr>
              <a:t>NOVA IMS LISBOA  ·  MAY 2026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5349240" y="59436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450">
                <a:solidFill>
                  <a:srgbClr val="00684A"/>
                </a:solidFill>
                <a:latin typeface="Helvetica Neue"/>
              </a:rPr>
              <a:t>THE PACKAGE</a:t>
            </a:r>
          </a:p>
        </p:txBody>
      </p:sp>
      <p:sp>
        <p:nvSpPr>
          <p:cNvPr id="517" name="TextBox 516"/>
          <p:cNvSpPr txBox="1"/>
          <p:nvPr/>
        </p:nvSpPr>
        <p:spPr>
          <a:xfrm>
            <a:off x="5349240" y="960120"/>
            <a:ext cx="65836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 i="0">
                <a:solidFill>
                  <a:srgbClr val="101828"/>
                </a:solidFill>
                <a:latin typeface="Georgia"/>
              </a:rPr>
              <a:t>One MongoDB collection</a:t>
            </a:r>
          </a:p>
          <a:p>
            <a:pPr algn="l">
              <a:lnSpc>
                <a:spcPct val="105000"/>
              </a:lnSpc>
            </a:pPr>
            <a:r>
              <a:rPr sz="3000" b="0" i="0">
                <a:solidFill>
                  <a:srgbClr val="101828"/>
                </a:solidFill>
                <a:latin typeface="Georgia"/>
              </a:rPr>
              <a:t>that reads like the</a:t>
            </a:r>
          </a:p>
          <a:p>
            <a:pPr algn="l">
              <a:lnSpc>
                <a:spcPct val="105000"/>
              </a:lnSpc>
            </a:pPr>
            <a:r>
              <a:rPr sz="3000" b="0" i="0">
                <a:solidFill>
                  <a:srgbClr val="101828"/>
                </a:solidFill>
                <a:latin typeface="Georgia"/>
              </a:rPr>
              <a:t>checkout receipt itself.</a:t>
            </a:r>
          </a:p>
        </p:txBody>
      </p:sp>
      <p:sp>
        <p:nvSpPr>
          <p:cNvPr id="518" name="Rectangle 517"/>
          <p:cNvSpPr/>
          <p:nvPr/>
        </p:nvSpPr>
        <p:spPr>
          <a:xfrm>
            <a:off x="5349240" y="3063240"/>
            <a:ext cx="1645920" cy="36576"/>
          </a:xfrm>
          <a:prstGeom prst="rect">
            <a:avLst/>
          </a:prstGeom>
          <a:solidFill>
            <a:srgbClr val="B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" name="TextBox 518"/>
          <p:cNvSpPr txBox="1"/>
          <p:nvPr/>
        </p:nvSpPr>
        <p:spPr>
          <a:xfrm>
            <a:off x="5349240" y="3200400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101828"/>
                </a:solidFill>
                <a:latin typeface="Georgia"/>
              </a:rPr>
              <a:t>1,000</a:t>
            </a:r>
          </a:p>
        </p:txBody>
      </p:sp>
      <p:sp>
        <p:nvSpPr>
          <p:cNvPr id="520" name="TextBox 519"/>
          <p:cNvSpPr txBox="1"/>
          <p:nvPr/>
        </p:nvSpPr>
        <p:spPr>
          <a:xfrm>
            <a:off x="5349240" y="3904488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 spc="150">
                <a:solidFill>
                  <a:srgbClr val="5F6A7A"/>
                </a:solidFill>
                <a:latin typeface="Helvetica Neue"/>
              </a:rPr>
              <a:t>receipt documents</a:t>
            </a:r>
          </a:p>
        </p:txBody>
      </p:sp>
      <p:sp>
        <p:nvSpPr>
          <p:cNvPr id="521" name="Rectangle 520"/>
          <p:cNvSpPr/>
          <p:nvPr/>
        </p:nvSpPr>
        <p:spPr>
          <a:xfrm>
            <a:off x="7040880" y="3063240"/>
            <a:ext cx="1645920" cy="36576"/>
          </a:xfrm>
          <a:prstGeom prst="rect">
            <a:avLst/>
          </a:prstGeom>
          <a:solidFill>
            <a:srgbClr val="B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" name="TextBox 521"/>
          <p:cNvSpPr txBox="1"/>
          <p:nvPr/>
        </p:nvSpPr>
        <p:spPr>
          <a:xfrm>
            <a:off x="7040880" y="3200400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101828"/>
                </a:solidFill>
                <a:latin typeface="Georgia"/>
              </a:rPr>
              <a:t>3</a:t>
            </a:r>
          </a:p>
        </p:txBody>
      </p:sp>
      <p:sp>
        <p:nvSpPr>
          <p:cNvPr id="523" name="TextBox 522"/>
          <p:cNvSpPr txBox="1"/>
          <p:nvPr/>
        </p:nvSpPr>
        <p:spPr>
          <a:xfrm>
            <a:off x="7040880" y="3904488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 spc="150">
                <a:solidFill>
                  <a:srgbClr val="5F6A7A"/>
                </a:solidFill>
                <a:latin typeface="Helvetica Neue"/>
              </a:rPr>
              <a:t>branches · Myanmar</a:t>
            </a:r>
          </a:p>
        </p:txBody>
      </p:sp>
      <p:sp>
        <p:nvSpPr>
          <p:cNvPr id="524" name="Rectangle 523"/>
          <p:cNvSpPr/>
          <p:nvPr/>
        </p:nvSpPr>
        <p:spPr>
          <a:xfrm>
            <a:off x="8732520" y="3063240"/>
            <a:ext cx="1645920" cy="36576"/>
          </a:xfrm>
          <a:prstGeom prst="rect">
            <a:avLst/>
          </a:prstGeom>
          <a:solidFill>
            <a:srgbClr val="B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" name="TextBox 524"/>
          <p:cNvSpPr txBox="1"/>
          <p:nvPr/>
        </p:nvSpPr>
        <p:spPr>
          <a:xfrm>
            <a:off x="8732520" y="3200400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101828"/>
                </a:solidFill>
                <a:latin typeface="Georgia"/>
              </a:rPr>
              <a:t>6</a:t>
            </a:r>
          </a:p>
        </p:txBody>
      </p:sp>
      <p:sp>
        <p:nvSpPr>
          <p:cNvPr id="526" name="TextBox 525"/>
          <p:cNvSpPr txBox="1"/>
          <p:nvPr/>
        </p:nvSpPr>
        <p:spPr>
          <a:xfrm>
            <a:off x="8732520" y="3904488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 spc="150">
                <a:solidFill>
                  <a:srgbClr val="5F6A7A"/>
                </a:solidFill>
                <a:latin typeface="Helvetica Neue"/>
              </a:rPr>
              <a:t>product lines</a:t>
            </a:r>
          </a:p>
        </p:txBody>
      </p:sp>
      <p:sp>
        <p:nvSpPr>
          <p:cNvPr id="527" name="Rectangle 526"/>
          <p:cNvSpPr/>
          <p:nvPr/>
        </p:nvSpPr>
        <p:spPr>
          <a:xfrm>
            <a:off x="10424160" y="3063240"/>
            <a:ext cx="1645920" cy="36576"/>
          </a:xfrm>
          <a:prstGeom prst="rect">
            <a:avLst/>
          </a:prstGeom>
          <a:solidFill>
            <a:srgbClr val="B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" name="TextBox 527"/>
          <p:cNvSpPr txBox="1"/>
          <p:nvPr/>
        </p:nvSpPr>
        <p:spPr>
          <a:xfrm>
            <a:off x="10424160" y="3200400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101828"/>
                </a:solidFill>
                <a:latin typeface="Georgia"/>
              </a:rPr>
              <a:t>$322,966.75</a:t>
            </a:r>
          </a:p>
        </p:txBody>
      </p:sp>
      <p:sp>
        <p:nvSpPr>
          <p:cNvPr id="529" name="TextBox 528"/>
          <p:cNvSpPr txBox="1"/>
          <p:nvPr/>
        </p:nvSpPr>
        <p:spPr>
          <a:xfrm>
            <a:off x="10424160" y="3904488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 spc="150">
                <a:solidFill>
                  <a:srgbClr val="5F6A7A"/>
                </a:solidFill>
                <a:latin typeface="Helvetica Neue"/>
              </a:rPr>
              <a:t>total revenue Q1 2019</a:t>
            </a:r>
          </a:p>
        </p:txBody>
      </p:sp>
      <p:cxnSp>
        <p:nvCxnSpPr>
          <p:cNvPr id="530" name="Connector 529"/>
          <p:cNvCxnSpPr/>
          <p:nvPr/>
        </p:nvCxnSpPr>
        <p:spPr>
          <a:xfrm>
            <a:off x="5349240" y="4617720"/>
            <a:ext cx="6583680" cy="0"/>
          </a:xfrm>
          <a:prstGeom prst="line">
            <a:avLst/>
          </a:prstGeom>
          <a:ln w="6350">
            <a:solidFill>
              <a:srgbClr val="D8D3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4" name="Connector 533"/>
          <p:cNvCxnSpPr/>
          <p:nvPr/>
        </p:nvCxnSpPr>
        <p:spPr>
          <a:xfrm>
            <a:off x="5349240" y="5532120.0"/>
            <a:ext cx="6583680" cy="0.0"/>
          </a:xfrm>
          <a:prstGeom prst="line">
            <a:avLst/>
          </a:prstGeom>
          <a:ln w="5080">
            <a:solidFill>
              <a:srgbClr val="ECE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8" name="Connector 537"/>
          <p:cNvCxnSpPr/>
          <p:nvPr/>
        </p:nvCxnSpPr>
        <p:spPr>
          <a:xfrm>
            <a:off x="5349240" y="5879592.0"/>
            <a:ext cx="6583680" cy="0.0"/>
          </a:xfrm>
          <a:prstGeom prst="line">
            <a:avLst/>
          </a:prstGeom>
          <a:ln w="5080">
            <a:solidFill>
              <a:srgbClr val="ECE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2" name="Connector 541"/>
          <p:cNvCxnSpPr/>
          <p:nvPr/>
        </p:nvCxnSpPr>
        <p:spPr>
          <a:xfrm>
            <a:off x="5349240" y="6227064.0"/>
            <a:ext cx="6583680" cy="0.0"/>
          </a:xfrm>
          <a:prstGeom prst="line">
            <a:avLst/>
          </a:prstGeom>
          <a:ln w="5080">
            <a:solidFill>
              <a:srgbClr val="ECE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6" name="Connector 545"/>
          <p:cNvCxnSpPr/>
          <p:nvPr/>
        </p:nvCxnSpPr>
        <p:spPr>
          <a:xfrm>
            <a:off x="5349240" y="6574536.0"/>
            <a:ext cx="6583680" cy="0.0"/>
          </a:xfrm>
          <a:prstGeom prst="line">
            <a:avLst/>
          </a:prstGeom>
          <a:ln w="5080">
            <a:solidFill>
              <a:srgbClr val="ECE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7" name="Connector 546"/>
          <p:cNvCxnSpPr/>
          <p:nvPr/>
        </p:nvCxnSpPr>
        <p:spPr>
          <a:xfrm>
            <a:off x="5349240" y="4736592"/>
            <a:ext cx="6583680" cy="0"/>
          </a:xfrm>
          <a:prstGeom prst="line">
            <a:avLst/>
          </a:prstGeom>
          <a:ln w="6350">
            <a:solidFill>
              <a:srgbClr val="D8D3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8" name="TextBox 547"/>
          <p:cNvSpPr txBox="1"/>
          <p:nvPr/>
        </p:nvSpPr>
        <p:spPr>
          <a:xfrm>
            <a:off x="5349240" y="4846320"/>
            <a:ext cx="6400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B88A2E"/>
                </a:solidFill>
                <a:latin typeface="Helvetica Neue"/>
              </a:rPr>
              <a:t>GROUP XXX  ·  TEAM</a:t>
            </a:r>
          </a:p>
        </p:txBody>
      </p:sp>
      <p:sp>
        <p:nvSpPr>
          <p:cNvPr id="549" name="Rectangle 548"/>
          <p:cNvSpPr/>
          <p:nvPr/>
        </p:nvSpPr>
        <p:spPr>
          <a:xfrm>
            <a:off x="5349240" y="5102352"/>
            <a:ext cx="54864" cy="274320"/>
          </a:xfrm>
          <a:prstGeom prst="rect">
            <a:avLst/>
          </a:prstGeom>
          <a:solidFill>
            <a:srgbClr val="006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0" name="Connector 549"/>
          <p:cNvCxnSpPr/>
          <p:nvPr/>
        </p:nvCxnSpPr>
        <p:spPr>
          <a:xfrm>
            <a:off x="5349240" y="5394960.0"/>
            <a:ext cx="6583680" cy="0.0"/>
          </a:xfrm>
          <a:prstGeom prst="line">
            <a:avLst/>
          </a:prstGeom>
          <a:ln w="5080">
            <a:solidFill>
              <a:srgbClr val="ECE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1" name="TextBox 550"/>
          <p:cNvSpPr txBox="1"/>
          <p:nvPr/>
        </p:nvSpPr>
        <p:spPr>
          <a:xfrm>
            <a:off x="5532120" y="5102352"/>
            <a:ext cx="43891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101828"/>
                </a:solidFill>
                <a:latin typeface="Helvetica Neue"/>
              </a:rPr>
              <a:t>Daniyal Ahmad</a:t>
            </a:r>
          </a:p>
        </p:txBody>
      </p:sp>
      <p:sp>
        <p:nvSpPr>
          <p:cNvPr id="552" name="TextBox 551"/>
          <p:cNvSpPr txBox="1"/>
          <p:nvPr/>
        </p:nvSpPr>
        <p:spPr>
          <a:xfrm>
            <a:off x="9829800" y="5102352"/>
            <a:ext cx="205740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50" b="0" i="0">
                <a:solidFill>
                  <a:srgbClr val="00684A"/>
                </a:solidFill>
                <a:latin typeface="Menlo"/>
              </a:rPr>
              <a:t>20241831</a:t>
            </a:r>
          </a:p>
        </p:txBody>
      </p:sp>
      <p:sp>
        <p:nvSpPr>
          <p:cNvPr id="553" name="Rectangle 552"/>
          <p:cNvSpPr/>
          <p:nvPr/>
        </p:nvSpPr>
        <p:spPr>
          <a:xfrm>
            <a:off x="5349240" y="5413248"/>
            <a:ext cx="54864" cy="274320"/>
          </a:xfrm>
          <a:prstGeom prst="rect">
            <a:avLst/>
          </a:prstGeom>
          <a:solidFill>
            <a:srgbClr val="006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4" name="Connector 553"/>
          <p:cNvCxnSpPr/>
          <p:nvPr/>
        </p:nvCxnSpPr>
        <p:spPr>
          <a:xfrm>
            <a:off x="5349240" y="5705856.0"/>
            <a:ext cx="6583680" cy="0.0"/>
          </a:xfrm>
          <a:prstGeom prst="line">
            <a:avLst/>
          </a:prstGeom>
          <a:ln w="5080">
            <a:solidFill>
              <a:srgbClr val="ECE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5" name="TextBox 554"/>
          <p:cNvSpPr txBox="1"/>
          <p:nvPr/>
        </p:nvSpPr>
        <p:spPr>
          <a:xfrm>
            <a:off x="5532120" y="5413248"/>
            <a:ext cx="43891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101828"/>
                </a:solidFill>
                <a:latin typeface="Helvetica Neue"/>
              </a:rPr>
              <a:t>Artemii Alekseev</a:t>
            </a:r>
          </a:p>
        </p:txBody>
      </p:sp>
      <p:sp>
        <p:nvSpPr>
          <p:cNvPr id="556" name="TextBox 555"/>
          <p:cNvSpPr txBox="1"/>
          <p:nvPr/>
        </p:nvSpPr>
        <p:spPr>
          <a:xfrm>
            <a:off x="9829800" y="5413248"/>
            <a:ext cx="205740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50" b="0" i="0">
                <a:solidFill>
                  <a:srgbClr val="00684A"/>
                </a:solidFill>
                <a:latin typeface="Menlo"/>
              </a:rPr>
              <a:t>20240645</a:t>
            </a:r>
          </a:p>
        </p:txBody>
      </p:sp>
      <p:sp>
        <p:nvSpPr>
          <p:cNvPr id="557" name="Rectangle 556"/>
          <p:cNvSpPr/>
          <p:nvPr/>
        </p:nvSpPr>
        <p:spPr>
          <a:xfrm>
            <a:off x="5349240" y="5724144"/>
            <a:ext cx="54864" cy="274320"/>
          </a:xfrm>
          <a:prstGeom prst="rect">
            <a:avLst/>
          </a:prstGeom>
          <a:solidFill>
            <a:srgbClr val="006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8" name="Connector 557"/>
          <p:cNvCxnSpPr/>
          <p:nvPr/>
        </p:nvCxnSpPr>
        <p:spPr>
          <a:xfrm>
            <a:off x="5349240" y="6016752.0"/>
            <a:ext cx="6583680" cy="0.0"/>
          </a:xfrm>
          <a:prstGeom prst="line">
            <a:avLst/>
          </a:prstGeom>
          <a:ln w="5080">
            <a:solidFill>
              <a:srgbClr val="ECE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9" name="TextBox 558"/>
          <p:cNvSpPr txBox="1"/>
          <p:nvPr/>
        </p:nvSpPr>
        <p:spPr>
          <a:xfrm>
            <a:off x="5532120" y="5724144"/>
            <a:ext cx="43891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101828"/>
                </a:solidFill>
                <a:latin typeface="Helvetica Neue"/>
              </a:rPr>
              <a:t>Ivan Romanov</a:t>
            </a:r>
          </a:p>
        </p:txBody>
      </p:sp>
      <p:sp>
        <p:nvSpPr>
          <p:cNvPr id="560" name="TextBox 559"/>
          <p:cNvSpPr txBox="1"/>
          <p:nvPr/>
        </p:nvSpPr>
        <p:spPr>
          <a:xfrm>
            <a:off x="9829800" y="5724144"/>
            <a:ext cx="205740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50" b="0" i="0">
                <a:solidFill>
                  <a:srgbClr val="00684A"/>
                </a:solidFill>
                <a:latin typeface="Menlo"/>
              </a:rPr>
              <a:t>20240639</a:t>
            </a:r>
          </a:p>
        </p:txBody>
      </p:sp>
      <p:sp>
        <p:nvSpPr>
          <p:cNvPr id="561" name="Rectangle 560"/>
          <p:cNvSpPr/>
          <p:nvPr/>
        </p:nvSpPr>
        <p:spPr>
          <a:xfrm>
            <a:off x="5349240" y="6035040"/>
            <a:ext cx="54864" cy="274320"/>
          </a:xfrm>
          <a:prstGeom prst="rect">
            <a:avLst/>
          </a:prstGeom>
          <a:solidFill>
            <a:srgbClr val="006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2" name="Connector 561"/>
          <p:cNvCxnSpPr/>
          <p:nvPr/>
        </p:nvCxnSpPr>
        <p:spPr>
          <a:xfrm>
            <a:off x="5349240" y="6327648.0"/>
            <a:ext cx="6583680" cy="0.0"/>
          </a:xfrm>
          <a:prstGeom prst="line">
            <a:avLst/>
          </a:prstGeom>
          <a:ln w="5080">
            <a:solidFill>
              <a:srgbClr val="ECE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3" name="TextBox 562"/>
          <p:cNvSpPr txBox="1"/>
          <p:nvPr/>
        </p:nvSpPr>
        <p:spPr>
          <a:xfrm>
            <a:off x="5532120" y="6035040"/>
            <a:ext cx="43891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101828"/>
                </a:solidFill>
                <a:latin typeface="Helvetica Neue"/>
              </a:rPr>
              <a:t>Viktoriia German</a:t>
            </a:r>
          </a:p>
        </p:txBody>
      </p:sp>
      <p:sp>
        <p:nvSpPr>
          <p:cNvPr id="564" name="TextBox 563"/>
          <p:cNvSpPr txBox="1"/>
          <p:nvPr/>
        </p:nvSpPr>
        <p:spPr>
          <a:xfrm>
            <a:off x="9829800" y="6035040"/>
            <a:ext cx="205740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50" b="0" i="0">
                <a:solidFill>
                  <a:srgbClr val="00684A"/>
                </a:solidFill>
                <a:latin typeface="Menlo"/>
              </a:rPr>
              <a:t>20240650</a:t>
            </a:r>
          </a:p>
        </p:txBody>
      </p:sp>
      <p:sp>
        <p:nvSpPr>
          <p:cNvPr id="565" name="Rectangle 564"/>
          <p:cNvSpPr/>
          <p:nvPr/>
        </p:nvSpPr>
        <p:spPr>
          <a:xfrm>
            <a:off x="5349240" y="6345936"/>
            <a:ext cx="54864" cy="274320"/>
          </a:xfrm>
          <a:prstGeom prst="rect">
            <a:avLst/>
          </a:prstGeom>
          <a:solidFill>
            <a:srgbClr val="006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" name="TextBox 565"/>
          <p:cNvSpPr txBox="1"/>
          <p:nvPr/>
        </p:nvSpPr>
        <p:spPr>
          <a:xfrm>
            <a:off x="5532120" y="6345936"/>
            <a:ext cx="43891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101828"/>
                </a:solidFill>
                <a:latin typeface="Helvetica Neue"/>
              </a:rPr>
              <a:t>João Panizzutti</a:t>
            </a:r>
          </a:p>
        </p:txBody>
      </p:sp>
      <p:sp>
        <p:nvSpPr>
          <p:cNvPr id="567" name="TextBox 566"/>
          <p:cNvSpPr txBox="1"/>
          <p:nvPr/>
        </p:nvSpPr>
        <p:spPr>
          <a:xfrm>
            <a:off x="9829800" y="6345936"/>
            <a:ext cx="205740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50" b="0" i="0">
                <a:solidFill>
                  <a:srgbClr val="00684A"/>
                </a:solidFill>
                <a:latin typeface="Menlo"/>
              </a:rPr>
              <a:t>20241624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502920"/>
            <a:ext cx="11094415" cy="0"/>
          </a:xfrm>
          <a:prstGeom prst="line">
            <a:avLst/>
          </a:prstGeom>
          <a:ln w="9525">
            <a:solidFill>
              <a:srgbClr val="101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 spc="350">
                <a:solidFill>
                  <a:srgbClr val="5F6A7A"/>
                </a:solidFill>
                <a:latin typeface="Helvetica Neue"/>
              </a:rPr>
              <a:t>QUICKCART  ·  BIG DATA STORAGE  ·  MONGODB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0" y="2011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1" i="0" spc="200">
                <a:solidFill>
                  <a:srgbClr val="5F6A7A"/>
                </a:solidFill>
                <a:latin typeface="Helvetica Neue"/>
              </a:rPr>
              <a:t>02 / 08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92240"/>
            <a:ext cx="11094415" cy="0"/>
          </a:xfrm>
          <a:prstGeom prst="line">
            <a:avLst/>
          </a:prstGeom>
          <a:ln w="6350">
            <a:solidFill>
              <a:srgbClr val="D8D3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 spc="350">
                <a:solidFill>
                  <a:srgbClr val="5F6A7A"/>
                </a:solidFill>
                <a:latin typeface="Helvetica Neue"/>
              </a:rPr>
              <a:t>A — COMPANY &amp; DATASET RATIONALE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42255" y="656539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i="0" spc="200">
                <a:solidFill>
                  <a:srgbClr val="5F6A7A"/>
                </a:solidFill>
                <a:latin typeface="Helvetica Neue"/>
              </a:rPr>
              <a:t>NOVA IMS  ·  2025/26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 spc="400">
                <a:solidFill>
                  <a:srgbClr val="00684A"/>
                </a:solidFill>
                <a:latin typeface="Helvetica Neue"/>
              </a:rPr>
              <a:t>A  ·  THE COMPANY, THE DATA, THE FIT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4300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0" i="0">
                <a:solidFill>
                  <a:srgbClr val="101828"/>
                </a:solidFill>
                <a:latin typeface="Georgia"/>
              </a:rPr>
              <a:t>From a checkout queue</a:t>
            </a:r>
          </a:p>
          <a:p>
            <a:pPr algn="l">
              <a:lnSpc>
                <a:spcPct val="105000"/>
              </a:lnSpc>
            </a:pPr>
            <a:r>
              <a:rPr sz="3600" b="0" i="0">
                <a:solidFill>
                  <a:srgbClr val="101828"/>
                </a:solidFill>
                <a:latin typeface="Georgia"/>
              </a:rPr>
              <a:t>to a queryable document.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246120"/>
            <a:ext cx="3657600" cy="2971800"/>
          </a:xfrm>
          <a:prstGeom prst="rect">
            <a:avLst/>
          </a:prstGeom>
          <a:solidFill>
            <a:srgbClr val="FDF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246120"/>
            <a:ext cx="164592" cy="2971800"/>
          </a:xfrm>
          <a:prstGeom prst="rect">
            <a:avLst/>
          </a:prstGeom>
          <a:solidFill>
            <a:srgbClr val="006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5204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 spc="400">
                <a:solidFill>
                  <a:srgbClr val="00684A"/>
                </a:solidFill>
                <a:latin typeface="Helvetica Neue"/>
              </a:rPr>
              <a:t>THE COMPANY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84048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101828"/>
                </a:solidFill>
                <a:latin typeface="Georgia"/>
              </a:rPr>
              <a:t>QuickCart, three branches.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526280"/>
            <a:ext cx="283464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101828"/>
                </a:solidFill>
                <a:latin typeface="Helvetica Neue"/>
              </a:rPr>
              <a:t>A retail chain serving Yangon, Mandalay, and Naypyitaw. Six product lines: food, electronics, fashion, sports, home, and health &amp; beauty. The checkout is the only place every part of the business touches the customer at once.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40" y="3246120"/>
            <a:ext cx="3657600" cy="2971800"/>
          </a:xfrm>
          <a:prstGeom prst="rect">
            <a:avLst/>
          </a:prstGeom>
          <a:solidFill>
            <a:srgbClr val="FDF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3246120"/>
            <a:ext cx="164592" cy="2971800"/>
          </a:xfrm>
          <a:prstGeom prst="rect">
            <a:avLst/>
          </a:prstGeom>
          <a:solidFill>
            <a:srgbClr val="B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2040" y="35204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 spc="400">
                <a:solidFill>
                  <a:srgbClr val="B88A2E"/>
                </a:solidFill>
                <a:latin typeface="Helvetica Neue"/>
              </a:rPr>
              <a:t>THE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384048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101828"/>
                </a:solidFill>
                <a:latin typeface="Georgia"/>
              </a:rPr>
              <a:t>1,000 receipts, Q1 2019.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4526280"/>
            <a:ext cx="283464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101828"/>
                </a:solidFill>
                <a:latin typeface="Helvetica Neue"/>
              </a:rPr>
              <a:t>Each row is a complete sale: branch, customer type, gender, item line, payment method, totals, gross income, and a 0–10 customer rating. CSV in, MongoDB out, no information lost.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21040" y="3246120"/>
            <a:ext cx="3657600" cy="2971800"/>
          </a:xfrm>
          <a:prstGeom prst="rect">
            <a:avLst/>
          </a:prstGeom>
          <a:solidFill>
            <a:srgbClr val="FDF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21040" y="3246120"/>
            <a:ext cx="164592" cy="2971800"/>
          </a:xfrm>
          <a:prstGeom prst="rect">
            <a:avLst/>
          </a:prstGeom>
          <a:solidFill>
            <a:srgbClr val="A84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35204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 spc="400">
                <a:solidFill>
                  <a:srgbClr val="A84A2A"/>
                </a:solidFill>
                <a:latin typeface="Helvetica Neue"/>
              </a:rPr>
              <a:t>THE FIT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384048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101828"/>
                </a:solidFill>
                <a:latin typeface="Georgia"/>
              </a:rPr>
              <a:t>Receipt → document.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4526280"/>
            <a:ext cx="283464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101828"/>
                </a:solidFill>
                <a:latin typeface="Helvetica Neue"/>
              </a:rPr>
              <a:t>A receipt is a nested object: header, items, totals, payment. SQL would shred it across five tables. MongoDB stores it as one document and reads it back the same way — no joins, ever.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6263640"/>
            <a:ext cx="11094415" cy="36576"/>
          </a:xfrm>
          <a:prstGeom prst="rect">
            <a:avLst/>
          </a:prstGeom>
          <a:solidFill>
            <a:srgbClr val="B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89788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5F6A7A"/>
                </a:solidFill>
                <a:latin typeface="Helvetica Neue"/>
              </a:rPr>
              <a:t>Source: supermarket_sales.csv  ·  1,000 rows  ·  17 columns  ·  cleaned, validated, restructured into one BSON collection.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502920"/>
            <a:ext cx="11094415" cy="0"/>
          </a:xfrm>
          <a:prstGeom prst="line">
            <a:avLst/>
          </a:prstGeom>
          <a:ln w="9525">
            <a:solidFill>
              <a:srgbClr val="101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 spc="350">
                <a:solidFill>
                  <a:srgbClr val="5F6A7A"/>
                </a:solidFill>
                <a:latin typeface="Helvetica Neue"/>
              </a:rPr>
              <a:t>QUICKCART  ·  BIG DATA STORAGE  ·  MONGODB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0" y="2011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1" i="0" spc="200">
                <a:solidFill>
                  <a:srgbClr val="5F6A7A"/>
                </a:solidFill>
                <a:latin typeface="Helvetica Neue"/>
              </a:rPr>
              <a:t>03 / 08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92240"/>
            <a:ext cx="11094415" cy="0"/>
          </a:xfrm>
          <a:prstGeom prst="line">
            <a:avLst/>
          </a:prstGeom>
          <a:ln w="6350">
            <a:solidFill>
              <a:srgbClr val="D8D3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 spc="350">
                <a:solidFill>
                  <a:srgbClr val="5F6A7A"/>
                </a:solidFill>
                <a:latin typeface="Helvetica Neue"/>
              </a:rPr>
              <a:t>B — SCHEMA &amp;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42255" y="656539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i="0" spc="200">
                <a:solidFill>
                  <a:srgbClr val="5F6A7A"/>
                </a:solidFill>
                <a:latin typeface="Helvetica Neue"/>
              </a:rPr>
              <a:t>NOVA IMS  ·  2025/26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 spc="400">
                <a:solidFill>
                  <a:srgbClr val="00684A"/>
                </a:solidFill>
                <a:latin typeface="Helvetica Neue"/>
              </a:rPr>
              <a:t>B  ·  AT MOST 10 COLLECTIONS  ·  WE CHOSE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4300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0" i="0">
                <a:solidFill>
                  <a:srgbClr val="101828"/>
                </a:solidFill>
                <a:latin typeface="Georgia"/>
              </a:rPr>
              <a:t>sales_receipts.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06040"/>
            <a:ext cx="6492240" cy="3657600"/>
          </a:xfrm>
          <a:prstGeom prst="rect">
            <a:avLst/>
          </a:prstGeom>
          <a:solidFill>
            <a:srgbClr val="1C24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9808" y="2788920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50976" y="2788920"/>
            <a:ext cx="118872" cy="11887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52144" y="2788920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37360" y="2752344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 spc="80">
                <a:solidFill>
                  <a:srgbClr val="A8AEBE"/>
                </a:solidFill>
                <a:latin typeface="Menlo"/>
              </a:rPr>
              <a:t>mongosh  ·  group_xxx  ›  db.sales_receipts.findOne()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3108960"/>
            <a:ext cx="6492240" cy="0"/>
          </a:xfrm>
          <a:prstGeom prst="line">
            <a:avLst/>
          </a:prstGeom>
          <a:ln w="6350">
            <a:solidFill>
              <a:srgbClr val="2E3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68680" y="3246120"/>
            <a:ext cx="585216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E6E6DE"/>
                </a:solidFill>
                <a:latin typeface="Menlo"/>
              </a:rPr>
              <a:t>{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E6E6DE"/>
                </a:solidFill>
                <a:latin typeface="Menlo"/>
              </a:rPr>
              <a:t>  _id:           "750-67-8428",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E6E6DE"/>
                </a:solidFill>
                <a:latin typeface="Menlo"/>
              </a:rPr>
              <a:t>  invoice_id:    "750-67-8428",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E6E6DE"/>
                </a:solidFill>
                <a:latin typeface="Menlo"/>
              </a:rPr>
              <a:t>  branch:        { code: "C", city: "Naypyitaw" },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E6E6DE"/>
                </a:solidFill>
                <a:latin typeface="Menlo"/>
              </a:rPr>
              <a:t>  customer:      { type: "Member", gender: "Female" },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E6E6DE"/>
                </a:solidFill>
                <a:latin typeface="Menlo"/>
              </a:rPr>
              <a:t>  items: [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E6E6DE"/>
                </a:solidFill>
                <a:latin typeface="Menlo"/>
              </a:rPr>
              <a:t>    { product_line: "Food and beverages",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E6E6DE"/>
                </a:solidFill>
                <a:latin typeface="Menlo"/>
              </a:rPr>
              <a:t>      unit_price: 54.84, quantity: 7,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E6E6DE"/>
                </a:solidFill>
                <a:latin typeface="Menlo"/>
              </a:rPr>
              <a:t>      line_cogs: 383.88, tax_5: 19.19,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E6E6DE"/>
                </a:solidFill>
                <a:latin typeface="Menlo"/>
              </a:rPr>
              <a:t>      line_total: 403.07, gross_income: 19.19 }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E6E6DE"/>
                </a:solidFill>
                <a:latin typeface="Menlo"/>
              </a:rPr>
              <a:t>  ],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E6E6DE"/>
                </a:solidFill>
                <a:latin typeface="Menlo"/>
              </a:rPr>
              <a:t>  sale_datetime: ISODate("2019-03-09T18:32:00Z"),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E6E6DE"/>
                </a:solidFill>
                <a:latin typeface="Menlo"/>
              </a:rPr>
              <a:t>  sale_month: "2019-03",   sale_hour: 18,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E6E6DE"/>
                </a:solidFill>
                <a:latin typeface="Menlo"/>
              </a:rPr>
              <a:t>  payment:       { method: "Credit card" },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E6E6DE"/>
                </a:solidFill>
                <a:latin typeface="Menlo"/>
              </a:rPr>
              <a:t>  financials:    { cogs: 383.88, total: 403.07,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E6E6DE"/>
                </a:solidFill>
                <a:latin typeface="Menlo"/>
              </a:rPr>
              <a:t>                   gross_income: 19.19 },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E6E6DE"/>
                </a:solidFill>
                <a:latin typeface="Menlo"/>
              </a:rPr>
              <a:t>  rating:        8.4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E6E6DE"/>
                </a:solidFill>
                <a:latin typeface="Menlo"/>
              </a:rPr>
              <a:t>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260604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101828"/>
                </a:solidFill>
                <a:latin typeface="Helvetica Neue"/>
              </a:rPr>
              <a:t>Why one collection.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2971800"/>
            <a:ext cx="42976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01828"/>
                </a:solidFill>
                <a:latin typeface="Helvetica Neue"/>
              </a:rPr>
              <a:t>Every required query is a read on one receipt or an aggregation across receipts. A second collection would buy nothing for this dataset.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416052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00684A"/>
                </a:solidFill>
                <a:latin typeface="Helvetica Neue"/>
              </a:rPr>
              <a:t>Advantages.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4434840"/>
            <a:ext cx="4297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01828"/>
                </a:solidFill>
                <a:latin typeface="Helvetica Neue"/>
              </a:rPr>
              <a:t>Reads are atomic. The validator covers the whole receipt. Aggregations stay on a single pipeline. Schema reads like a sales log.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534924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A84A2A"/>
                </a:solidFill>
                <a:latin typeface="Helvetica Neue"/>
              </a:rPr>
              <a:t>Disadvantages.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5623560"/>
            <a:ext cx="4297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01828"/>
                </a:solidFill>
                <a:latin typeface="Helvetica Neue"/>
              </a:rPr>
              <a:t>Branch and product strings repeat. Acceptable here. A production chain would add inventory, supplier, and promotions later.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502920"/>
            <a:ext cx="11094415" cy="0"/>
          </a:xfrm>
          <a:prstGeom prst="line">
            <a:avLst/>
          </a:prstGeom>
          <a:ln w="9525">
            <a:solidFill>
              <a:srgbClr val="101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 spc="350">
                <a:solidFill>
                  <a:srgbClr val="5F6A7A"/>
                </a:solidFill>
                <a:latin typeface="Helvetica Neue"/>
              </a:rPr>
              <a:t>QUICKCART  ·  BIG DATA STORAGE  ·  MONGODB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0" y="2011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1" i="0" spc="200">
                <a:solidFill>
                  <a:srgbClr val="5F6A7A"/>
                </a:solidFill>
                <a:latin typeface="Helvetica Neue"/>
              </a:rPr>
              <a:t>04 / 08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92240"/>
            <a:ext cx="11094415" cy="0"/>
          </a:xfrm>
          <a:prstGeom prst="line">
            <a:avLst/>
          </a:prstGeom>
          <a:ln w="6350">
            <a:solidFill>
              <a:srgbClr val="D8D3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 spc="350">
                <a:solidFill>
                  <a:srgbClr val="5F6A7A"/>
                </a:solidFill>
                <a:latin typeface="Helvetica Neue"/>
              </a:rPr>
              <a:t>C &amp; D — QUALITY AND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42255" y="656539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i="0" spc="200">
                <a:solidFill>
                  <a:srgbClr val="5F6A7A"/>
                </a:solidFill>
                <a:latin typeface="Helvetica Neue"/>
              </a:rPr>
              <a:t>NOVA IMS  ·  2025/26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 spc="400">
                <a:solidFill>
                  <a:srgbClr val="00684A"/>
                </a:solidFill>
                <a:latin typeface="Helvetica Neue"/>
              </a:rPr>
              <a:t>C &amp; D  ·  TYPED, CLEANED, ENFORCED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4300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0" i="0">
                <a:solidFill>
                  <a:srgbClr val="101828"/>
                </a:solidFill>
                <a:latin typeface="Georgia"/>
              </a:rPr>
              <a:t>Strict at the door,</a:t>
            </a:r>
          </a:p>
          <a:p>
            <a:pPr algn="l">
              <a:lnSpc>
                <a:spcPct val="105000"/>
              </a:lnSpc>
            </a:pPr>
            <a:r>
              <a:rPr sz="3600" b="0" i="0">
                <a:solidFill>
                  <a:srgbClr val="101828"/>
                </a:solidFill>
                <a:latin typeface="Georgia"/>
              </a:rPr>
              <a:t>fast on the read.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400">
                <a:solidFill>
                  <a:srgbClr val="00684A"/>
                </a:solidFill>
                <a:latin typeface="Helvetica Neue"/>
              </a:rPr>
              <a:t>C  ·  DATA QUALITY OPERATIONS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566160"/>
            <a:ext cx="2212848" cy="1051560"/>
          </a:xfrm>
          <a:prstGeom prst="rect">
            <a:avLst/>
          </a:prstGeom>
          <a:solidFill>
            <a:srgbClr val="FDF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7033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B88A2E"/>
                </a:solidFill>
                <a:latin typeface="Georgia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72160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00">
                <a:solidFill>
                  <a:srgbClr val="101828"/>
                </a:solidFill>
                <a:latin typeface="Helvetica Neue"/>
              </a:rPr>
              <a:t>Parsed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023360"/>
            <a:ext cx="18470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5F6A7A"/>
                </a:solidFill>
                <a:latin typeface="Helvetica Neue"/>
              </a:rPr>
              <a:t>Date + Time merged into ISO BSON date.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98064" y="3566160"/>
            <a:ext cx="2212848" cy="1051560"/>
          </a:xfrm>
          <a:prstGeom prst="rect">
            <a:avLst/>
          </a:prstGeom>
          <a:solidFill>
            <a:srgbClr val="FDF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26664" y="37033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B88A2E"/>
                </a:solidFill>
                <a:latin typeface="Georgia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75304" y="372160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00">
                <a:solidFill>
                  <a:srgbClr val="101828"/>
                </a:solidFill>
                <a:latin typeface="Helvetica Neue"/>
              </a:rPr>
              <a:t>Cast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26664" y="4023360"/>
            <a:ext cx="18470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5F6A7A"/>
                </a:solidFill>
                <a:latin typeface="Helvetica Neue"/>
              </a:rPr>
              <a:t>Prices, taxes, totals, ratings → double.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47488" y="3566160"/>
            <a:ext cx="2212848" cy="1051560"/>
          </a:xfrm>
          <a:prstGeom prst="rect">
            <a:avLst/>
          </a:prstGeom>
          <a:solidFill>
            <a:srgbClr val="FDF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76088" y="37033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B88A2E"/>
                </a:solidFill>
                <a:latin typeface="Georgia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24728" y="372160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00">
                <a:solidFill>
                  <a:srgbClr val="101828"/>
                </a:solidFill>
                <a:latin typeface="Helvetica Neue"/>
              </a:rPr>
              <a:t>Dedup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76088" y="4023360"/>
            <a:ext cx="18470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5F6A7A"/>
                </a:solidFill>
                <a:latin typeface="Helvetica Neue"/>
              </a:rPr>
              <a:t>Duplicate invoice_id rows removed.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96912" y="3566160"/>
            <a:ext cx="2212848" cy="1051560"/>
          </a:xfrm>
          <a:prstGeom prst="rect">
            <a:avLst/>
          </a:prstGeom>
          <a:solidFill>
            <a:srgbClr val="FDF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25512" y="37033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B88A2E"/>
                </a:solidFill>
                <a:latin typeface="Georgia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74152" y="372160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00">
                <a:solidFill>
                  <a:srgbClr val="101828"/>
                </a:solidFill>
                <a:latin typeface="Helvetica Neue"/>
              </a:rPr>
              <a:t>Derive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25512" y="4023360"/>
            <a:ext cx="18470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5F6A7A"/>
                </a:solidFill>
                <a:latin typeface="Helvetica Neue"/>
              </a:rPr>
              <a:t>sale_month, sale_weekday, sale_hour.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46336" y="3566160"/>
            <a:ext cx="2212848" cy="1051560"/>
          </a:xfrm>
          <a:prstGeom prst="rect">
            <a:avLst/>
          </a:prstGeom>
          <a:solidFill>
            <a:srgbClr val="FDF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74936" y="37033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B88A2E"/>
                </a:solidFill>
                <a:latin typeface="Georgia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23576" y="372160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00">
                <a:solidFill>
                  <a:srgbClr val="101828"/>
                </a:solidFill>
                <a:latin typeface="Helvetica Neue"/>
              </a:rPr>
              <a:t>Trim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74936" y="4023360"/>
            <a:ext cx="18470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5F6A7A"/>
                </a:solidFill>
                <a:latin typeface="Helvetica Neue"/>
              </a:rPr>
              <a:t>Branch city names standardised.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8463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400">
                <a:solidFill>
                  <a:srgbClr val="00684A"/>
                </a:solidFill>
                <a:latin typeface="Helvetica Neue"/>
              </a:rPr>
              <a:t>D  ·  VALIDATION RULES (JSON SCHEMA, strict)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166360"/>
            <a:ext cx="2212848" cy="1097280"/>
          </a:xfrm>
          <a:prstGeom prst="rect">
            <a:avLst/>
          </a:prstGeom>
          <a:solidFill>
            <a:srgbClr val="1C24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5303520"/>
            <a:ext cx="17556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400">
                <a:solidFill>
                  <a:srgbClr val="2E8B57"/>
                </a:solidFill>
                <a:latin typeface="Helvetica Neue"/>
              </a:rPr>
              <a:t>REQUIRED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559552"/>
            <a:ext cx="17556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6F2E8"/>
                </a:solidFill>
                <a:latin typeface="Helvetica Neue"/>
              </a:rPr>
              <a:t>11 fields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806440"/>
            <a:ext cx="17556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CFC9BA"/>
                </a:solidFill>
                <a:latin typeface="Menlo"/>
              </a:rPr>
              <a:t>_id, invoice_id, branch, customer, items …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98064" y="5166360"/>
            <a:ext cx="2212848" cy="1097280"/>
          </a:xfrm>
          <a:prstGeom prst="rect">
            <a:avLst/>
          </a:prstGeom>
          <a:solidFill>
            <a:srgbClr val="1C24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026664" y="5303520"/>
            <a:ext cx="17556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400">
                <a:solidFill>
                  <a:srgbClr val="2E8B57"/>
                </a:solidFill>
                <a:latin typeface="Helvetica Neue"/>
              </a:rPr>
              <a:t>PATTERN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26664" y="5559552"/>
            <a:ext cx="17556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6F2E8"/>
                </a:solidFill>
                <a:latin typeface="Helvetica Neue"/>
              </a:rPr>
              <a:t>Invoice ID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26664" y="5806440"/>
            <a:ext cx="17556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CFC9BA"/>
                </a:solidFill>
                <a:latin typeface="Menlo"/>
              </a:rPr>
              <a:t>^[0-9]{3}-[0-9]{2}-[0-9]{4}$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47488" y="5166360"/>
            <a:ext cx="2212848" cy="1097280"/>
          </a:xfrm>
          <a:prstGeom prst="rect">
            <a:avLst/>
          </a:prstGeom>
          <a:solidFill>
            <a:srgbClr val="1C24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276088" y="5303520"/>
            <a:ext cx="17556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400">
                <a:solidFill>
                  <a:srgbClr val="2E8B57"/>
                </a:solidFill>
                <a:latin typeface="Helvetica Neue"/>
              </a:rPr>
              <a:t>ENUM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76088" y="5559552"/>
            <a:ext cx="17556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6F2E8"/>
                </a:solidFill>
                <a:latin typeface="Helvetica Neue"/>
              </a:rPr>
              <a:t>Categories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76088" y="5806440"/>
            <a:ext cx="17556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CFC9BA"/>
                </a:solidFill>
                <a:latin typeface="Menlo"/>
              </a:rPr>
              <a:t>branch · city · gender · payment · product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96912" y="5166360"/>
            <a:ext cx="2212848" cy="1097280"/>
          </a:xfrm>
          <a:prstGeom prst="rect">
            <a:avLst/>
          </a:prstGeom>
          <a:solidFill>
            <a:srgbClr val="1C24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25512" y="5303520"/>
            <a:ext cx="17556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400">
                <a:solidFill>
                  <a:srgbClr val="2E8B57"/>
                </a:solidFill>
                <a:latin typeface="Helvetica Neue"/>
              </a:rPr>
              <a:t>MIN/MAX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25512" y="5559552"/>
            <a:ext cx="17556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6F2E8"/>
                </a:solidFill>
                <a:latin typeface="Helvetica Neue"/>
              </a:rPr>
              <a:t>Quantities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25512" y="5806440"/>
            <a:ext cx="17556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CFC9BA"/>
                </a:solidFill>
                <a:latin typeface="Menlo"/>
              </a:rPr>
              <a:t>quantity ≥ 1   ·   rating ∈ [0, 10]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546336" y="5166360"/>
            <a:ext cx="2212848" cy="1097280"/>
          </a:xfrm>
          <a:prstGeom prst="rect">
            <a:avLst/>
          </a:prstGeom>
          <a:solidFill>
            <a:srgbClr val="1C24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774936" y="5303520"/>
            <a:ext cx="17556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400">
                <a:solidFill>
                  <a:srgbClr val="2E8B57"/>
                </a:solidFill>
                <a:latin typeface="Helvetica Neue"/>
              </a:rPr>
              <a:t>BOUNDED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74936" y="5559552"/>
            <a:ext cx="17556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6F2E8"/>
                </a:solidFill>
                <a:latin typeface="Helvetica Neue"/>
              </a:rPr>
              <a:t>Financials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74936" y="5806440"/>
            <a:ext cx="17556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CFC9BA"/>
                </a:solidFill>
                <a:latin typeface="Menlo"/>
              </a:rPr>
              <a:t>cogs, total, gross_income  ≥ 0  ·  hour 0–23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502920"/>
            <a:ext cx="11094415" cy="0"/>
          </a:xfrm>
          <a:prstGeom prst="line">
            <a:avLst/>
          </a:prstGeom>
          <a:ln w="9525">
            <a:solidFill>
              <a:srgbClr val="101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 spc="350">
                <a:solidFill>
                  <a:srgbClr val="5F6A7A"/>
                </a:solidFill>
                <a:latin typeface="Helvetica Neue"/>
              </a:rPr>
              <a:t>QUICKCART  ·  BIG DATA STORAGE  ·  MONGODB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0" y="2011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1" i="0" spc="200">
                <a:solidFill>
                  <a:srgbClr val="5F6A7A"/>
                </a:solidFill>
                <a:latin typeface="Helvetica Neue"/>
              </a:rPr>
              <a:t>05 / 08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92240"/>
            <a:ext cx="11094415" cy="0"/>
          </a:xfrm>
          <a:prstGeom prst="line">
            <a:avLst/>
          </a:prstGeom>
          <a:ln w="6350">
            <a:solidFill>
              <a:srgbClr val="D8D3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 spc="350">
                <a:solidFill>
                  <a:srgbClr val="5F6A7A"/>
                </a:solidFill>
                <a:latin typeface="Helvetica Neue"/>
              </a:rPr>
              <a:t>FINDINGS — THE RECEIPTS SPEAK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42255" y="656539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i="0" spc="200">
                <a:solidFill>
                  <a:srgbClr val="5F6A7A"/>
                </a:solidFill>
                <a:latin typeface="Helvetica Neue"/>
              </a:rPr>
              <a:t>NOVA IMS  ·  2025/26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 spc="400">
                <a:solidFill>
                  <a:srgbClr val="00684A"/>
                </a:solidFill>
                <a:latin typeface="Helvetica Neue"/>
              </a:rPr>
              <a:t>BUSINESS INSIGHTS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4300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0" i="0">
                <a:solidFill>
                  <a:srgbClr val="101828"/>
                </a:solidFill>
                <a:latin typeface="Georgia"/>
              </a:rPr>
              <a:t>What the receipts say.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06040"/>
            <a:ext cx="11094415" cy="1325880"/>
          </a:xfrm>
          <a:prstGeom prst="rect">
            <a:avLst/>
          </a:prstGeom>
          <a:solidFill>
            <a:srgbClr val="10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807208"/>
            <a:ext cx="277360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0" i="0">
                <a:solidFill>
                  <a:srgbClr val="F6F2E8"/>
                </a:solidFill>
                <a:latin typeface="Georgia"/>
              </a:rPr>
              <a:t>$322,966.75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74720"/>
            <a:ext cx="277360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 spc="400">
                <a:solidFill>
                  <a:srgbClr val="CFC9BA"/>
                </a:solidFill>
                <a:latin typeface="Helvetica Neue"/>
              </a:rPr>
              <a:t>TOTAL REVENUE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22243.75" y="2834640"/>
            <a:ext cx="0.0" cy="868680"/>
          </a:xfrm>
          <a:prstGeom prst="line">
            <a:avLst/>
          </a:prstGeom>
          <a:ln w="6350">
            <a:solidFill>
              <a:srgbClr val="353C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322243" y="2807208"/>
            <a:ext cx="277360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0" i="0">
                <a:solidFill>
                  <a:srgbClr val="F6F2E8"/>
                </a:solidFill>
                <a:latin typeface="Georgia"/>
              </a:rPr>
              <a:t>$15,379.37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22243" y="3474720"/>
            <a:ext cx="277360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 spc="400">
                <a:solidFill>
                  <a:srgbClr val="CFC9BA"/>
                </a:solidFill>
                <a:latin typeface="Helvetica Neue"/>
              </a:rPr>
              <a:t>GROSS INCOME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95847.5" y="2834640"/>
            <a:ext cx="0.0" cy="868680"/>
          </a:xfrm>
          <a:prstGeom prst="line">
            <a:avLst/>
          </a:prstGeom>
          <a:ln w="6350">
            <a:solidFill>
              <a:srgbClr val="353C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095847" y="2807208"/>
            <a:ext cx="277360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0" i="0">
                <a:solidFill>
                  <a:srgbClr val="F6F2E8"/>
                </a:solidFill>
                <a:latin typeface="Georgia"/>
              </a:rPr>
              <a:t>$322.97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5847" y="3474720"/>
            <a:ext cx="277360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 spc="400">
                <a:solidFill>
                  <a:srgbClr val="CFC9BA"/>
                </a:solidFill>
                <a:latin typeface="Helvetica Neue"/>
              </a:rPr>
              <a:t>AVG TICKET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869451.25" y="2834640"/>
            <a:ext cx="0.0" cy="868680"/>
          </a:xfrm>
          <a:prstGeom prst="line">
            <a:avLst/>
          </a:prstGeom>
          <a:ln w="6350">
            <a:solidFill>
              <a:srgbClr val="353C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869451" y="2807208"/>
            <a:ext cx="277360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0" i="0">
                <a:solidFill>
                  <a:srgbClr val="F6F2E8"/>
                </a:solidFill>
                <a:latin typeface="Georgia"/>
              </a:rPr>
              <a:t>6.97 / 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451" y="3474720"/>
            <a:ext cx="277360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 spc="400">
                <a:solidFill>
                  <a:srgbClr val="CFC9BA"/>
                </a:solidFill>
                <a:latin typeface="Helvetica Neue"/>
              </a:rPr>
              <a:t>AVG RATING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16052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 spc="400">
                <a:solidFill>
                  <a:srgbClr val="00684A"/>
                </a:solidFill>
                <a:latin typeface="Helvetica Neue"/>
              </a:rPr>
              <a:t>REVENUE BY PRODUCT 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480560"/>
            <a:ext cx="18288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01828"/>
                </a:solidFill>
                <a:latin typeface="Helvetica Neue"/>
              </a:rPr>
              <a:t>Food and beverages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23159" y="4562856"/>
            <a:ext cx="2011680" cy="91440"/>
          </a:xfrm>
          <a:prstGeom prst="rect">
            <a:avLst/>
          </a:prstGeom>
          <a:solidFill>
            <a:srgbClr val="ECE5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423159" y="4562856"/>
            <a:ext cx="2011680" cy="91440"/>
          </a:xfrm>
          <a:prstGeom prst="rect">
            <a:avLst/>
          </a:prstGeom>
          <a:solidFill>
            <a:srgbClr val="006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0560" y="4480560"/>
            <a:ext cx="8229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50" b="0" i="0">
                <a:solidFill>
                  <a:srgbClr val="101828"/>
                </a:solidFill>
                <a:latin typeface="Menlo"/>
              </a:rPr>
              <a:t>$56,145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727448"/>
            <a:ext cx="18288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01828"/>
                </a:solidFill>
                <a:latin typeface="Helvetica Neue"/>
              </a:rPr>
              <a:t>Sports and travel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23159" y="4809744"/>
            <a:ext cx="2011680" cy="91440"/>
          </a:xfrm>
          <a:prstGeom prst="rect">
            <a:avLst/>
          </a:prstGeom>
          <a:solidFill>
            <a:srgbClr val="ECE5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423159" y="4809744"/>
            <a:ext cx="1975469" cy="9144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80560" y="4727448"/>
            <a:ext cx="8229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50" b="0" i="0">
                <a:solidFill>
                  <a:srgbClr val="101828"/>
                </a:solidFill>
                <a:latin typeface="Menlo"/>
              </a:rPr>
              <a:t>$55,123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974336"/>
            <a:ext cx="18288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01828"/>
                </a:solidFill>
                <a:latin typeface="Helvetica Neue"/>
              </a:rPr>
              <a:t>Electronic accessories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423159" y="5056632"/>
            <a:ext cx="2011680" cy="91440"/>
          </a:xfrm>
          <a:prstGeom prst="rect">
            <a:avLst/>
          </a:prstGeom>
          <a:solidFill>
            <a:srgbClr val="ECE5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423159" y="5056632"/>
            <a:ext cx="1947306" cy="9144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80560" y="4974336"/>
            <a:ext cx="8229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50" b="0" i="0">
                <a:solidFill>
                  <a:srgbClr val="101828"/>
                </a:solidFill>
                <a:latin typeface="Menlo"/>
              </a:rPr>
              <a:t>$54,338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221224"/>
            <a:ext cx="18288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01828"/>
                </a:solidFill>
                <a:latin typeface="Helvetica Neue"/>
              </a:rPr>
              <a:t>Fashion accessories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23159" y="5303520"/>
            <a:ext cx="2011680" cy="91440"/>
          </a:xfrm>
          <a:prstGeom prst="rect">
            <a:avLst/>
          </a:prstGeom>
          <a:solidFill>
            <a:srgbClr val="ECE5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423159" y="5303520"/>
            <a:ext cx="1945294" cy="9144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80560" y="5221224"/>
            <a:ext cx="8229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50" b="0" i="0">
                <a:solidFill>
                  <a:srgbClr val="101828"/>
                </a:solidFill>
                <a:latin typeface="Menlo"/>
              </a:rPr>
              <a:t>$54,306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468112"/>
            <a:ext cx="18288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01828"/>
                </a:solidFill>
                <a:latin typeface="Helvetica Neue"/>
              </a:rPr>
              <a:t>Home and lifestyle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423159" y="5550408"/>
            <a:ext cx="2011680" cy="91440"/>
          </a:xfrm>
          <a:prstGeom prst="rect">
            <a:avLst/>
          </a:prstGeom>
          <a:solidFill>
            <a:srgbClr val="ECE5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423159" y="5550408"/>
            <a:ext cx="1929201" cy="91440"/>
          </a:xfrm>
          <a:prstGeom prst="rect">
            <a:avLst/>
          </a:prstGeom>
          <a:solidFill>
            <a:srgbClr val="5F6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80560" y="5468112"/>
            <a:ext cx="8229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50" b="0" i="0">
                <a:solidFill>
                  <a:srgbClr val="101828"/>
                </a:solidFill>
                <a:latin typeface="Menlo"/>
              </a:rPr>
              <a:t>$53,862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5715000"/>
            <a:ext cx="18288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01828"/>
                </a:solidFill>
                <a:latin typeface="Helvetica Neue"/>
              </a:rPr>
              <a:t>Health and beauty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423159" y="5797296"/>
            <a:ext cx="2011680" cy="91440"/>
          </a:xfrm>
          <a:prstGeom prst="rect">
            <a:avLst/>
          </a:prstGeom>
          <a:solidFill>
            <a:srgbClr val="ECE5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423159" y="5797296"/>
            <a:ext cx="1762231" cy="91440"/>
          </a:xfrm>
          <a:prstGeom prst="rect">
            <a:avLst/>
          </a:prstGeom>
          <a:solidFill>
            <a:srgbClr val="5F6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80560" y="5715000"/>
            <a:ext cx="8229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50" b="0" i="0">
                <a:solidFill>
                  <a:srgbClr val="101828"/>
                </a:solidFill>
                <a:latin typeface="Menlo"/>
              </a:rPr>
              <a:t>$49,194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0" y="4160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 spc="400">
                <a:solidFill>
                  <a:srgbClr val="B88A2E"/>
                </a:solidFill>
                <a:latin typeface="Helvetica Neue"/>
              </a:rPr>
              <a:t>BRANCHES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0" y="45262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 i="0">
                <a:solidFill>
                  <a:srgbClr val="00684A"/>
                </a:solidFill>
                <a:latin typeface="Georgia"/>
              </a:rPr>
              <a:t>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89320" y="448970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1828"/>
                </a:solidFill>
                <a:latin typeface="Helvetica Neue"/>
              </a:rPr>
              <a:t>Naypyitaw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89320" y="471830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5F6A7A"/>
                </a:solidFill>
                <a:latin typeface="Menlo"/>
              </a:rPr>
              <a:t>$110,569   ·   328 tix   ·   ★ 7.07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5486400" y="5029200"/>
            <a:ext cx="2743200" cy="0"/>
          </a:xfrm>
          <a:prstGeom prst="line">
            <a:avLst/>
          </a:prstGeom>
          <a:ln w="5080">
            <a:solidFill>
              <a:srgbClr val="EEEB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5486400" y="5120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 i="0">
                <a:solidFill>
                  <a:srgbClr val="101828"/>
                </a:solidFill>
                <a:latin typeface="Georgia"/>
              </a:rPr>
              <a:t>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89320" y="508406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1828"/>
                </a:solidFill>
                <a:latin typeface="Helvetica Neue"/>
              </a:rPr>
              <a:t>Yangon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89320" y="531266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5F6A7A"/>
                </a:solidFill>
                <a:latin typeface="Menlo"/>
              </a:rPr>
              <a:t>$106,200   ·   340 tix   ·   ★ 7.03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5486400" y="5623560"/>
            <a:ext cx="2743200" cy="0"/>
          </a:xfrm>
          <a:prstGeom prst="line">
            <a:avLst/>
          </a:prstGeom>
          <a:ln w="5080">
            <a:solidFill>
              <a:srgbClr val="EEEB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486400" y="57150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 i="0">
                <a:solidFill>
                  <a:srgbClr val="101828"/>
                </a:solidFill>
                <a:latin typeface="Georgia"/>
              </a:rPr>
              <a:t>B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89320" y="567842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1828"/>
                </a:solidFill>
                <a:latin typeface="Helvetica Neue"/>
              </a:rPr>
              <a:t>Mandalay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89320" y="590702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5F6A7A"/>
                </a:solidFill>
                <a:latin typeface="Menlo"/>
              </a:rPr>
              <a:t>$106,198   ·   332 tix   ·   ★ 6.82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12480" y="41605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 spc="400">
                <a:solidFill>
                  <a:srgbClr val="A84A2A"/>
                </a:solidFill>
                <a:latin typeface="Helvetica Neue"/>
              </a:rPr>
              <a:t>PEAK HOURS · REVENUE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412480" y="4526280"/>
            <a:ext cx="411480" cy="1371600"/>
          </a:xfrm>
          <a:prstGeom prst="rect">
            <a:avLst/>
          </a:prstGeom>
          <a:solidFill>
            <a:srgbClr val="006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412480" y="594360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101828"/>
                </a:solidFill>
                <a:latin typeface="Helvetica Neue"/>
              </a:rPr>
              <a:t>19h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66760" y="6153912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5F6A7A"/>
                </a:solidFill>
                <a:latin typeface="Menlo"/>
              </a:rPr>
              <a:t>$39.7k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025128" y="4697730"/>
            <a:ext cx="411480" cy="1200150"/>
          </a:xfrm>
          <a:prstGeom prst="rect">
            <a:avLst/>
          </a:prstGeom>
          <a:solidFill>
            <a:srgbClr val="5F6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025128" y="594360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101828"/>
                </a:solidFill>
                <a:latin typeface="Helvetica Neue"/>
              </a:rPr>
              <a:t>13h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979408" y="6153912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5F6A7A"/>
                </a:solidFill>
                <a:latin typeface="Menlo"/>
              </a:rPr>
              <a:t>$34.7k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637776" y="4811573"/>
            <a:ext cx="411480" cy="1086307"/>
          </a:xfrm>
          <a:prstGeom prst="rect">
            <a:avLst/>
          </a:prstGeom>
          <a:solidFill>
            <a:srgbClr val="5F6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37776" y="594360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101828"/>
                </a:solidFill>
                <a:latin typeface="Helvetica Neue"/>
              </a:rPr>
              <a:t>10h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592056" y="6153912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5F6A7A"/>
                </a:solidFill>
                <a:latin typeface="Menlo"/>
              </a:rPr>
              <a:t>$31.4k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250424" y="4819803"/>
            <a:ext cx="411480" cy="1078077"/>
          </a:xfrm>
          <a:prstGeom prst="rect">
            <a:avLst/>
          </a:prstGeom>
          <a:solidFill>
            <a:srgbClr val="5F6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250424" y="594360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101828"/>
                </a:solidFill>
                <a:latin typeface="Helvetica Neue"/>
              </a:rPr>
              <a:t>15h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204704" y="6153912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5F6A7A"/>
                </a:solidFill>
                <a:latin typeface="Menlo"/>
              </a:rPr>
              <a:t>$31.2k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863072" y="4833519"/>
            <a:ext cx="411480" cy="1064361"/>
          </a:xfrm>
          <a:prstGeom prst="rect">
            <a:avLst/>
          </a:prstGeom>
          <a:solidFill>
            <a:srgbClr val="5F6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863072" y="594360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101828"/>
                </a:solidFill>
                <a:latin typeface="Helvetica Neue"/>
              </a:rPr>
              <a:t>14h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817352" y="6153912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5F6A7A"/>
                </a:solidFill>
                <a:latin typeface="Menlo"/>
              </a:rPr>
              <a:t>$30.8k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502920"/>
            <a:ext cx="11094415" cy="0"/>
          </a:xfrm>
          <a:prstGeom prst="line">
            <a:avLst/>
          </a:prstGeom>
          <a:ln w="9525">
            <a:solidFill>
              <a:srgbClr val="101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 spc="350">
                <a:solidFill>
                  <a:srgbClr val="5F6A7A"/>
                </a:solidFill>
                <a:latin typeface="Helvetica Neue"/>
              </a:rPr>
              <a:t>QUICKCART  ·  BIG DATA STORAGE  ·  MONGODB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0" y="2011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1" i="0" spc="200">
                <a:solidFill>
                  <a:srgbClr val="5F6A7A"/>
                </a:solidFill>
                <a:latin typeface="Helvetica Neue"/>
              </a:rPr>
              <a:t>06 / 08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92240"/>
            <a:ext cx="11094415" cy="0"/>
          </a:xfrm>
          <a:prstGeom prst="line">
            <a:avLst/>
          </a:prstGeom>
          <a:ln w="6350">
            <a:solidFill>
              <a:srgbClr val="D8D3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 spc="350">
                <a:solidFill>
                  <a:srgbClr val="5F6A7A"/>
                </a:solidFill>
                <a:latin typeface="Helvetica Neue"/>
              </a:rPr>
              <a:t>E &amp; G — QUERIES AND AGGREGATIONS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42255" y="656539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i="0" spc="200">
                <a:solidFill>
                  <a:srgbClr val="5F6A7A"/>
                </a:solidFill>
                <a:latin typeface="Helvetica Neue"/>
              </a:rPr>
              <a:t>NOVA IMS  ·  2025/26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 spc="400">
                <a:solidFill>
                  <a:srgbClr val="00684A"/>
                </a:solidFill>
                <a:latin typeface="Helvetica Neue"/>
              </a:rPr>
              <a:t>E &amp; G  ·  HOW THE STORE ASKS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4300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0" i="0">
                <a:solidFill>
                  <a:srgbClr val="101828"/>
                </a:solidFill>
                <a:latin typeface="Georgia"/>
              </a:rPr>
              <a:t>Five questions managers ask.</a:t>
            </a:r>
          </a:p>
          <a:p>
            <a:pPr algn="l">
              <a:lnSpc>
                <a:spcPct val="105000"/>
              </a:lnSpc>
            </a:pPr>
            <a:r>
              <a:rPr sz="2800" b="0" i="0">
                <a:solidFill>
                  <a:srgbClr val="101828"/>
                </a:solidFill>
                <a:latin typeface="Georgia"/>
              </a:rPr>
              <a:t>Four pipelines that answer the rest.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246120"/>
            <a:ext cx="5440680" cy="3108960"/>
          </a:xfrm>
          <a:prstGeom prst="rect">
            <a:avLst/>
          </a:prstGeom>
          <a:solidFill>
            <a:srgbClr val="FDF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246120"/>
            <a:ext cx="128016" cy="3108960"/>
          </a:xfrm>
          <a:prstGeom prst="rect">
            <a:avLst/>
          </a:prstGeom>
          <a:solidFill>
            <a:srgbClr val="006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520440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400">
                <a:solidFill>
                  <a:srgbClr val="00684A"/>
                </a:solidFill>
                <a:latin typeface="Helvetica Neue"/>
              </a:rPr>
              <a:t>E  ·  FIVE INSIGHT QUERIES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9319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B88A2E"/>
                </a:solidFill>
                <a:latin typeface="Georgia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931920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101828"/>
                </a:solidFill>
                <a:latin typeface="Helvetica Neue"/>
              </a:rPr>
              <a:t>March receipts for Branch C, by ticket.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9319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50" b="1" i="0">
                <a:solidFill>
                  <a:srgbClr val="00684A"/>
                </a:solidFill>
                <a:latin typeface="Menlo"/>
              </a:rPr>
              <a:t>106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8680" y="4325112"/>
            <a:ext cx="4983480" cy="0"/>
          </a:xfrm>
          <a:prstGeom prst="line">
            <a:avLst/>
          </a:prstGeom>
          <a:ln w="5080">
            <a:solidFill>
              <a:srgbClr val="EEEB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68680" y="4379976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B88A2E"/>
                </a:solidFill>
                <a:latin typeface="Georgia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379976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101828"/>
                </a:solidFill>
                <a:latin typeface="Helvetica Neue"/>
              </a:rPr>
              <a:t>Food &amp; beverages receipts ≥ $500.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4379976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50" b="1" i="0">
                <a:solidFill>
                  <a:srgbClr val="00684A"/>
                </a:solidFill>
                <a:latin typeface="Menlo"/>
              </a:rPr>
              <a:t>37 / 174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68680" y="4773168"/>
            <a:ext cx="4983480" cy="0"/>
          </a:xfrm>
          <a:prstGeom prst="line">
            <a:avLst/>
          </a:prstGeom>
          <a:ln w="5080">
            <a:solidFill>
              <a:srgbClr val="EEEB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68680" y="482803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B88A2E"/>
                </a:solidFill>
                <a:latin typeface="Georgia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4828032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101828"/>
                </a:solidFill>
                <a:latin typeface="Helvetica Neue"/>
              </a:rPr>
              <a:t>Cash transactions above avg ticket.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482803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50" b="1" i="0">
                <a:solidFill>
                  <a:srgbClr val="00684A"/>
                </a:solidFill>
                <a:latin typeface="Menlo"/>
              </a:rPr>
              <a:t>142 / 344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68680" y="5221224"/>
            <a:ext cx="4983480" cy="0"/>
          </a:xfrm>
          <a:prstGeom prst="line">
            <a:avLst/>
          </a:prstGeom>
          <a:ln w="5080">
            <a:solidFill>
              <a:srgbClr val="EEEB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68680" y="527608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B88A2E"/>
                </a:solidFill>
                <a:latin typeface="Georgia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276088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101828"/>
                </a:solidFill>
                <a:latin typeface="Helvetica Neue"/>
              </a:rPr>
              <a:t>Member Sports &amp; travel, by rating.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527608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50" b="1" i="0">
                <a:solidFill>
                  <a:srgbClr val="00684A"/>
                </a:solidFill>
                <a:latin typeface="Menlo"/>
              </a:rPr>
              <a:t>87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68680" y="5669280"/>
            <a:ext cx="4983480" cy="0"/>
          </a:xfrm>
          <a:prstGeom prst="line">
            <a:avLst/>
          </a:prstGeom>
          <a:ln w="5080">
            <a:solidFill>
              <a:srgbClr val="EEEB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68680" y="5724144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B88A2E"/>
                </a:solidFill>
                <a:latin typeface="Georgia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5724144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101828"/>
                </a:solidFill>
                <a:latin typeface="Helvetica Neue"/>
              </a:rPr>
              <a:t>Low-rating receipts (&lt;5) for follow-up.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5724144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50" b="1" i="0">
                <a:solidFill>
                  <a:srgbClr val="00684A"/>
                </a:solidFill>
                <a:latin typeface="Menlo"/>
              </a:rPr>
              <a:t>153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3246120"/>
            <a:ext cx="5440680" cy="3108960"/>
          </a:xfrm>
          <a:prstGeom prst="rect">
            <a:avLst/>
          </a:prstGeom>
          <a:solidFill>
            <a:srgbClr val="FDF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0" y="3246120"/>
            <a:ext cx="128016" cy="3108960"/>
          </a:xfrm>
          <a:prstGeom prst="rect">
            <a:avLst/>
          </a:prstGeom>
          <a:solidFill>
            <a:srgbClr val="B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3520440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400">
                <a:solidFill>
                  <a:srgbClr val="B88A2E"/>
                </a:solidFill>
                <a:latin typeface="Helvetica Neue"/>
              </a:rPr>
              <a:t>G  ·  FOUR AGGREGATION PIPELINES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3931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88A2E"/>
                </a:solidFill>
                <a:latin typeface="Georgia"/>
              </a:rPr>
              <a:t>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95160" y="3895344"/>
            <a:ext cx="4434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01828"/>
                </a:solidFill>
                <a:latin typeface="Helvetica Neue"/>
              </a:rPr>
              <a:t>Branch scorecard.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95160" y="4133088"/>
            <a:ext cx="4434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5F6A7A"/>
                </a:solidFill>
                <a:latin typeface="Helvetica Neue"/>
              </a:rPr>
              <a:t>$group on branch.code → revenue, profit, tickets, avg rating.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4489704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88A2E"/>
                </a:solidFill>
                <a:latin typeface="Georgia"/>
              </a:rPr>
              <a:t>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95160" y="4453128"/>
            <a:ext cx="4434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01828"/>
                </a:solidFill>
                <a:latin typeface="Helvetica Neue"/>
              </a:rPr>
              <a:t>Product line performance.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95160" y="4690872"/>
            <a:ext cx="4434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5F6A7A"/>
                </a:solidFill>
                <a:latin typeface="Helvetica Neue"/>
              </a:rPr>
              <a:t>$unwind items → $group by product_line → revenue, units.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37960" y="5047488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88A2E"/>
                </a:solidFill>
                <a:latin typeface="Georgia"/>
              </a:rPr>
              <a:t>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95160" y="5010912"/>
            <a:ext cx="4434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01828"/>
                </a:solidFill>
                <a:latin typeface="Helvetica Neue"/>
              </a:rPr>
              <a:t>Sales by hour of day.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95160" y="5248656"/>
            <a:ext cx="4434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5F6A7A"/>
                </a:solidFill>
                <a:latin typeface="Helvetica Neue"/>
              </a:rPr>
              <a:t>Peak 19:00 → $39,699.51 across 113 receipts.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7960" y="5605272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88A2E"/>
                </a:solidFill>
                <a:latin typeface="Georgia"/>
              </a:rPr>
              <a:t>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95160" y="5568696"/>
            <a:ext cx="4434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01828"/>
                </a:solidFill>
                <a:latin typeface="Helvetica Neue"/>
              </a:rPr>
              <a:t>Customer × payment mix.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95160" y="5806440"/>
            <a:ext cx="4434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5F6A7A"/>
                </a:solidFill>
                <a:latin typeface="Helvetica Neue"/>
              </a:rPr>
              <a:t>Member vs Normal across Cash, Card, Ewallet, with avg rating.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502920"/>
            <a:ext cx="11094415" cy="0"/>
          </a:xfrm>
          <a:prstGeom prst="line">
            <a:avLst/>
          </a:prstGeom>
          <a:ln w="9525">
            <a:solidFill>
              <a:srgbClr val="101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 spc="350">
                <a:solidFill>
                  <a:srgbClr val="5F6A7A"/>
                </a:solidFill>
                <a:latin typeface="Helvetica Neue"/>
              </a:rPr>
              <a:t>QUICKCART  ·  BIG DATA STORAGE  ·  MONGODB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0" y="2011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1" i="0" spc="200">
                <a:solidFill>
                  <a:srgbClr val="5F6A7A"/>
                </a:solidFill>
                <a:latin typeface="Helvetica Neue"/>
              </a:rPr>
              <a:t>07 / 08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92240"/>
            <a:ext cx="11094415" cy="0"/>
          </a:xfrm>
          <a:prstGeom prst="line">
            <a:avLst/>
          </a:prstGeom>
          <a:ln w="6350">
            <a:solidFill>
              <a:srgbClr val="D8D3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 spc="350">
                <a:solidFill>
                  <a:srgbClr val="5F6A7A"/>
                </a:solidFill>
                <a:latin typeface="Helvetica Neue"/>
              </a:rPr>
              <a:t>F — INDEXES AND 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42255" y="656539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i="0" spc="200">
                <a:solidFill>
                  <a:srgbClr val="5F6A7A"/>
                </a:solidFill>
                <a:latin typeface="Helvetica Neue"/>
              </a:rPr>
              <a:t>NOVA IMS  ·  2025/26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 spc="400">
                <a:solidFill>
                  <a:srgbClr val="00684A"/>
                </a:solidFill>
                <a:latin typeface="Helvetica Neue"/>
              </a:rPr>
              <a:t>F  ·  EVERY INDEX EARNS ITS KEEP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4300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0" i="0">
                <a:solidFill>
                  <a:srgbClr val="101828"/>
                </a:solidFill>
                <a:latin typeface="Georgia"/>
              </a:rPr>
              <a:t>Seven indexes.</a:t>
            </a:r>
          </a:p>
          <a:p>
            <a:pPr algn="l">
              <a:lnSpc>
                <a:spcPct val="105000"/>
              </a:lnSpc>
            </a:pPr>
            <a:r>
              <a:rPr sz="3600" b="0" i="0">
                <a:solidFill>
                  <a:srgbClr val="101828"/>
                </a:solidFill>
                <a:latin typeface="Georgia"/>
              </a:rPr>
              <a:t>One query each.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7223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 spc="400">
                <a:solidFill>
                  <a:srgbClr val="00684A"/>
                </a:solidFill>
                <a:latin typeface="Helvetica Neue"/>
              </a:rPr>
              <a:t>INDEX  ·  KEYS  ·  QUERY SERVED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3538728"/>
            <a:ext cx="7223760" cy="0"/>
          </a:xfrm>
          <a:prstGeom prst="line">
            <a:avLst/>
          </a:prstGeom>
          <a:ln w="7620">
            <a:solidFill>
              <a:srgbClr val="101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3611880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01828"/>
                </a:solidFill>
                <a:latin typeface="Menlo"/>
              </a:rPr>
              <a:t>idx_sale_datetime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813048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5F6A7A"/>
                </a:solidFill>
                <a:latin typeface="Menlo"/>
              </a:rPr>
              <a:t>{ sale_datetime 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703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01828"/>
                </a:solidFill>
                <a:latin typeface="Helvetica Neue"/>
              </a:rPr>
              <a:t>Time-range scans.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3986784"/>
            <a:ext cx="7223760" cy="0"/>
          </a:xfrm>
          <a:prstGeom prst="line">
            <a:avLst/>
          </a:prstGeom>
          <a:ln w="5080">
            <a:solidFill>
              <a:srgbClr val="EEEB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8640" y="4005072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01828"/>
                </a:solidFill>
                <a:latin typeface="Menlo"/>
              </a:rPr>
              <a:t>idx_branch_date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206240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5F6A7A"/>
                </a:solidFill>
                <a:latin typeface="Menlo"/>
              </a:rPr>
              <a:t>{ branch.code, sale_datetime 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409651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01828"/>
                </a:solidFill>
                <a:latin typeface="Helvetica Neue"/>
              </a:rPr>
              <a:t>Branch × month windows.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4379976"/>
            <a:ext cx="7223760" cy="0"/>
          </a:xfrm>
          <a:prstGeom prst="line">
            <a:avLst/>
          </a:prstGeom>
          <a:ln w="5080">
            <a:solidFill>
              <a:srgbClr val="EEEB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48640" y="4398264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01828"/>
                </a:solidFill>
                <a:latin typeface="Menlo"/>
              </a:rPr>
              <a:t>idx_product_total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599432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5F6A7A"/>
                </a:solidFill>
                <a:latin typeface="Menlo"/>
              </a:rPr>
              <a:t>{ items.product_line, financials.total ↓ 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448970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01828"/>
                </a:solidFill>
                <a:latin typeface="Helvetica Neue"/>
              </a:rPr>
              <a:t>High-value by category.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8640" y="4773168"/>
            <a:ext cx="7223760" cy="0"/>
          </a:xfrm>
          <a:prstGeom prst="line">
            <a:avLst/>
          </a:prstGeom>
          <a:ln w="5080">
            <a:solidFill>
              <a:srgbClr val="EEEB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48640" y="4791456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01828"/>
                </a:solidFill>
                <a:latin typeface="Menlo"/>
              </a:rPr>
              <a:t>idx_payment_date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992624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5F6A7A"/>
                </a:solidFill>
                <a:latin typeface="Menlo"/>
              </a:rPr>
              <a:t>{ payment.method, sale_datetime 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488289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01828"/>
                </a:solidFill>
                <a:latin typeface="Helvetica Neue"/>
              </a:rPr>
              <a:t>Cash above average.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48640" y="5166360"/>
            <a:ext cx="7223760" cy="0"/>
          </a:xfrm>
          <a:prstGeom prst="line">
            <a:avLst/>
          </a:prstGeom>
          <a:ln w="5080">
            <a:solidFill>
              <a:srgbClr val="EEEB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48640" y="5184648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01828"/>
                </a:solidFill>
                <a:latin typeface="Menlo"/>
              </a:rPr>
              <a:t>idx_customer_product_rating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385816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5F6A7A"/>
                </a:solidFill>
                <a:latin typeface="Menlo"/>
              </a:rPr>
              <a:t>{ customer.type, items.product_line, rating ↓ 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527608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01828"/>
                </a:solidFill>
                <a:latin typeface="Helvetica Neue"/>
              </a:rPr>
              <a:t>Loyalty × rating.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48640" y="5559552"/>
            <a:ext cx="7223760" cy="0"/>
          </a:xfrm>
          <a:prstGeom prst="line">
            <a:avLst/>
          </a:prstGeom>
          <a:ln w="5080">
            <a:solidFill>
              <a:srgbClr val="EEEB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48640" y="5577840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01828"/>
                </a:solidFill>
                <a:latin typeface="Menlo"/>
              </a:rPr>
              <a:t>idx_rating_total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779008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5F6A7A"/>
                </a:solidFill>
                <a:latin typeface="Menlo"/>
              </a:rPr>
              <a:t>{ rating, financials.total ↓ }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56692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01828"/>
                </a:solidFill>
                <a:latin typeface="Helvetica Neue"/>
              </a:rPr>
              <a:t>Low-rating follow-up.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48640" y="5952744"/>
            <a:ext cx="7223760" cy="0"/>
          </a:xfrm>
          <a:prstGeom prst="line">
            <a:avLst/>
          </a:prstGeom>
          <a:ln w="5080">
            <a:solidFill>
              <a:srgbClr val="EEEB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48640" y="5971032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01828"/>
                </a:solidFill>
                <a:latin typeface="Menlo"/>
              </a:rPr>
              <a:t>idx_hour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172200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5F6A7A"/>
                </a:solidFill>
                <a:latin typeface="Menlo"/>
              </a:rPr>
              <a:t>{ sale_hour }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0" y="606247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01828"/>
                </a:solidFill>
                <a:latin typeface="Helvetica Neue"/>
              </a:rPr>
              <a:t>Hour-of-day rollups.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48640" y="6345936"/>
            <a:ext cx="7223760" cy="0"/>
          </a:xfrm>
          <a:prstGeom prst="line">
            <a:avLst/>
          </a:prstGeom>
          <a:ln w="5080">
            <a:solidFill>
              <a:srgbClr val="EEEB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8046720" y="32461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 spc="400">
                <a:solidFill>
                  <a:srgbClr val="B88A2E"/>
                </a:solidFill>
                <a:latin typeface="Helvetica Neue"/>
              </a:rPr>
              <a:t>CANDIDATES  ·  SCAN → INDEX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046720" y="3538728"/>
            <a:ext cx="3657600" cy="0"/>
          </a:xfrm>
          <a:prstGeom prst="line">
            <a:avLst/>
          </a:prstGeom>
          <a:ln w="7620">
            <a:solidFill>
              <a:srgbClr val="101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8046720" y="363016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01828"/>
                </a:solidFill>
                <a:latin typeface="Helvetica Neue"/>
              </a:rPr>
              <a:t>Branch C, March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20" y="3831336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F6A7A"/>
                </a:solidFill>
                <a:latin typeface="Menlo"/>
              </a:rPr>
              <a:t>1,000 → 106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46720" y="4014216"/>
            <a:ext cx="3657600" cy="54864"/>
          </a:xfrm>
          <a:prstGeom prst="rect">
            <a:avLst/>
          </a:prstGeom>
          <a:solidFill>
            <a:srgbClr val="ECE5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046720" y="4014216"/>
            <a:ext cx="387705" cy="54864"/>
          </a:xfrm>
          <a:prstGeom prst="rect">
            <a:avLst/>
          </a:prstGeom>
          <a:solidFill>
            <a:srgbClr val="006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46720" y="417880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01828"/>
                </a:solidFill>
                <a:latin typeface="Helvetica Neue"/>
              </a:rPr>
              <a:t>Food &amp; bev ≥ $500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46720" y="4379976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F6A7A"/>
                </a:solidFill>
                <a:latin typeface="Menlo"/>
              </a:rPr>
              <a:t>1,000 → 37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46720" y="4562856"/>
            <a:ext cx="3657600" cy="54864"/>
          </a:xfrm>
          <a:prstGeom prst="rect">
            <a:avLst/>
          </a:prstGeom>
          <a:solidFill>
            <a:srgbClr val="ECE5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046720" y="4562856"/>
            <a:ext cx="135331" cy="54864"/>
          </a:xfrm>
          <a:prstGeom prst="rect">
            <a:avLst/>
          </a:prstGeom>
          <a:solidFill>
            <a:srgbClr val="006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46720" y="472744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01828"/>
                </a:solidFill>
                <a:latin typeface="Helvetica Neue"/>
              </a:rPr>
              <a:t>Cash &gt; avg ticket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46720" y="4928616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F6A7A"/>
                </a:solidFill>
                <a:latin typeface="Menlo"/>
              </a:rPr>
              <a:t>1,000 → 142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046720" y="5111496"/>
            <a:ext cx="3657600" cy="54864"/>
          </a:xfrm>
          <a:prstGeom prst="rect">
            <a:avLst/>
          </a:prstGeom>
          <a:solidFill>
            <a:srgbClr val="ECE5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046720" y="5111496"/>
            <a:ext cx="519379" cy="54864"/>
          </a:xfrm>
          <a:prstGeom prst="rect">
            <a:avLst/>
          </a:prstGeom>
          <a:solidFill>
            <a:srgbClr val="006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46720" y="527608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01828"/>
                </a:solidFill>
                <a:latin typeface="Helvetica Neue"/>
              </a:rPr>
              <a:t>Member, Sports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46720" y="5477256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F6A7A"/>
                </a:solidFill>
                <a:latin typeface="Menlo"/>
              </a:rPr>
              <a:t>1,000 → 87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046720" y="5660136"/>
            <a:ext cx="3657600" cy="54864"/>
          </a:xfrm>
          <a:prstGeom prst="rect">
            <a:avLst/>
          </a:prstGeom>
          <a:solidFill>
            <a:srgbClr val="ECE5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046720" y="5660136"/>
            <a:ext cx="318211" cy="54864"/>
          </a:xfrm>
          <a:prstGeom prst="rect">
            <a:avLst/>
          </a:prstGeom>
          <a:solidFill>
            <a:srgbClr val="006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046720" y="582472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01828"/>
                </a:solidFill>
                <a:latin typeface="Helvetica Neue"/>
              </a:rPr>
              <a:t>Low rating (&lt;5)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46720" y="6025896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F6A7A"/>
                </a:solidFill>
                <a:latin typeface="Menlo"/>
              </a:rPr>
              <a:t>1,000 → 153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046720" y="6208776"/>
            <a:ext cx="3657600" cy="54864"/>
          </a:xfrm>
          <a:prstGeom prst="rect">
            <a:avLst/>
          </a:prstGeom>
          <a:solidFill>
            <a:srgbClr val="ECE5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046720" y="6208776"/>
            <a:ext cx="559612" cy="54864"/>
          </a:xfrm>
          <a:prstGeom prst="rect">
            <a:avLst/>
          </a:prstGeom>
          <a:solidFill>
            <a:srgbClr val="006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502920"/>
            <a:ext cx="11094415" cy="0"/>
          </a:xfrm>
          <a:prstGeom prst="line">
            <a:avLst/>
          </a:prstGeom>
          <a:ln w="9525">
            <a:solidFill>
              <a:srgbClr val="101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 spc="350">
                <a:solidFill>
                  <a:srgbClr val="5F6A7A"/>
                </a:solidFill>
                <a:latin typeface="Helvetica Neue"/>
              </a:rPr>
              <a:t>QUICKCART  ·  BIG DATA STORAGE  ·  MONGODB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0" y="2011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1" i="0" spc="200">
                <a:solidFill>
                  <a:srgbClr val="5F6A7A"/>
                </a:solidFill>
                <a:latin typeface="Helvetica Neue"/>
              </a:rPr>
              <a:t>08 / 08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92240"/>
            <a:ext cx="11094415" cy="0"/>
          </a:xfrm>
          <a:prstGeom prst="line">
            <a:avLst/>
          </a:prstGeom>
          <a:ln w="6350">
            <a:solidFill>
              <a:srgbClr val="D8D3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 spc="350">
                <a:solidFill>
                  <a:srgbClr val="5F6A7A"/>
                </a:solidFill>
                <a:latin typeface="Helvetica Neue"/>
              </a:rPr>
              <a:t>SUBMISSION · GROUP_XXX.ZIP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42255" y="656539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i="0" spc="200">
                <a:solidFill>
                  <a:srgbClr val="5F6A7A"/>
                </a:solidFill>
                <a:latin typeface="Helvetica Neue"/>
              </a:rPr>
              <a:t>NOVA IMS  ·  2025/26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 spc="400">
                <a:solidFill>
                  <a:srgbClr val="00684A"/>
                </a:solidFill>
                <a:latin typeface="Helvetica Neue"/>
              </a:rPr>
              <a:t>DELIVERABLES  ·  WHAT GOES TO MOODLE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4300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0" i="0">
                <a:solidFill>
                  <a:srgbClr val="101828"/>
                </a:solidFill>
                <a:latin typeface="Georgia"/>
              </a:rPr>
              <a:t>group_xxx.zip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97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 spc="400">
                <a:solidFill>
                  <a:srgbClr val="00684A"/>
                </a:solidFill>
                <a:latin typeface="Helvetica Neue"/>
              </a:rPr>
              <a:t>CONTENTS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2990088"/>
            <a:ext cx="6858000" cy="0"/>
          </a:xfrm>
          <a:prstGeom prst="line">
            <a:avLst/>
          </a:prstGeom>
          <a:ln w="7620">
            <a:solidFill>
              <a:srgbClr val="101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31089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1828"/>
                </a:solidFill>
                <a:latin typeface="Menlo"/>
              </a:rPr>
              <a:t>group_xxx_report.docx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3108960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5F6A7A"/>
                </a:solidFill>
                <a:latin typeface="Helvetica Neue"/>
              </a:rPr>
              <a:t>Cover · 1-page rationale · design decisions · A/D.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48640" y="3419856"/>
            <a:ext cx="6858000" cy="0"/>
          </a:xfrm>
          <a:prstGeom prst="line">
            <a:avLst/>
          </a:prstGeom>
          <a:ln w="5080">
            <a:solidFill>
              <a:srgbClr val="EEEB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8640" y="349300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1828"/>
                </a:solidFill>
                <a:latin typeface="Menlo"/>
              </a:rPr>
              <a:t>group_xxx_report.pdf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3493008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5F6A7A"/>
                </a:solidFill>
                <a:latin typeface="Helvetica Neue"/>
              </a:rPr>
              <a:t>Locked PDF version of the report.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" y="3803904"/>
            <a:ext cx="6858000" cy="0"/>
          </a:xfrm>
          <a:prstGeom prst="line">
            <a:avLst/>
          </a:prstGeom>
          <a:ln w="5080">
            <a:solidFill>
              <a:srgbClr val="EEEB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48640" y="3877056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1828"/>
                </a:solidFill>
                <a:latin typeface="Menlo"/>
              </a:rPr>
              <a:t>group_xxx.bson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3877056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5F6A7A"/>
                </a:solidFill>
                <a:latin typeface="Helvetica Neue"/>
              </a:rPr>
              <a:t>MongoDB backup — 1,000 documents.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48640" y="4187952"/>
            <a:ext cx="6858000" cy="0"/>
          </a:xfrm>
          <a:prstGeom prst="line">
            <a:avLst/>
          </a:prstGeom>
          <a:ln w="5080">
            <a:solidFill>
              <a:srgbClr val="EEEB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48640" y="426110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1828"/>
                </a:solidFill>
                <a:latin typeface="Menlo"/>
              </a:rPr>
              <a:t>group_xxx.metadata.json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4261104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5F6A7A"/>
                </a:solidFill>
                <a:latin typeface="Helvetica Neue"/>
              </a:rPr>
              <a:t>Validator + index metadata.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8640" y="4572000"/>
            <a:ext cx="6858000" cy="0"/>
          </a:xfrm>
          <a:prstGeom prst="line">
            <a:avLst/>
          </a:prstGeom>
          <a:ln w="5080">
            <a:solidFill>
              <a:srgbClr val="EEEB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48640" y="464515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1828"/>
                </a:solidFill>
                <a:latin typeface="Menlo"/>
              </a:rPr>
              <a:t>group_xxx.txt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94760" y="4645152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5F6A7A"/>
                </a:solidFill>
                <a:latin typeface="Helvetica Neue"/>
              </a:rPr>
              <a:t>All queries, aggregations, and commands.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48640" y="4956048"/>
            <a:ext cx="6858000" cy="0"/>
          </a:xfrm>
          <a:prstGeom prst="line">
            <a:avLst/>
          </a:prstGeom>
          <a:ln w="5080">
            <a:solidFill>
              <a:srgbClr val="EEEB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48640" y="50292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1828"/>
                </a:solidFill>
                <a:latin typeface="Menlo"/>
              </a:rPr>
              <a:t>group_xxx_presentation.pptx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5029200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5F6A7A"/>
                </a:solidFill>
                <a:latin typeface="Helvetica Neue"/>
              </a:rPr>
              <a:t>This deck — 8 slides, 10 min defense.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48640" y="5340096"/>
            <a:ext cx="6858000" cy="0"/>
          </a:xfrm>
          <a:prstGeom prst="line">
            <a:avLst/>
          </a:prstGeom>
          <a:ln w="5080">
            <a:solidFill>
              <a:srgbClr val="EEEB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48640" y="541324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1828"/>
                </a:solidFill>
                <a:latin typeface="Menlo"/>
              </a:rPr>
              <a:t>data/  ·  support/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94760" y="5413248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5F6A7A"/>
                </a:solidFill>
                <a:latin typeface="Helvetica Neue"/>
              </a:rPr>
              <a:t>Source CSV, restore notes, dictionary.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48640" y="5724144"/>
            <a:ext cx="6858000" cy="0"/>
          </a:xfrm>
          <a:prstGeom prst="line">
            <a:avLst/>
          </a:prstGeom>
          <a:ln w="5080">
            <a:solidFill>
              <a:srgbClr val="EEEB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680960" y="2697480"/>
            <a:ext cx="39776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 spc="400">
                <a:solidFill>
                  <a:srgbClr val="B88A2E"/>
                </a:solidFill>
                <a:latin typeface="Helvetica Neue"/>
              </a:rPr>
              <a:t>RESTORE  ·  ONE COMMAND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80960" y="3063240"/>
            <a:ext cx="3977639" cy="1417320"/>
          </a:xfrm>
          <a:prstGeom prst="rect">
            <a:avLst/>
          </a:prstGeom>
          <a:solidFill>
            <a:srgbClr val="1C24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845552" y="3200400"/>
            <a:ext cx="100584" cy="10058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028432" y="3200400"/>
            <a:ext cx="100584" cy="100584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211312" y="3200400"/>
            <a:ext cx="100584" cy="10058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82128" y="3447288"/>
            <a:ext cx="3611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E6E6DE"/>
                </a:solidFill>
                <a:latin typeface="Menlo"/>
              </a:rPr>
              <a:t>$ mongorestore \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82128" y="3666744"/>
            <a:ext cx="3611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CFC9BA"/>
                </a:solidFill>
                <a:latin typeface="Menlo"/>
              </a:rPr>
              <a:t>    --db group_xxx \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82128" y="3886200"/>
            <a:ext cx="3611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CFC9BA"/>
                </a:solidFill>
                <a:latin typeface="Menlo"/>
              </a:rPr>
              <a:t>    --collection sales_receipts \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82128" y="4105656"/>
            <a:ext cx="3611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00684A"/>
                </a:solidFill>
                <a:latin typeface="Menlo"/>
              </a:rPr>
              <a:t>    --drop group_xxx.bson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0" y="4709160"/>
            <a:ext cx="39776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 spc="400">
                <a:solidFill>
                  <a:srgbClr val="B88A2E"/>
                </a:solidFill>
                <a:latin typeface="Helvetica Neue"/>
              </a:rPr>
              <a:t>BEFORE UPLOAD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680960" y="5102352"/>
            <a:ext cx="73152" cy="73152"/>
          </a:xfrm>
          <a:prstGeom prst="rect">
            <a:avLst/>
          </a:prstGeom>
          <a:solidFill>
            <a:srgbClr val="006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63840" y="5029200"/>
            <a:ext cx="37947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01828"/>
                </a:solidFill>
                <a:latin typeface="Helvetica Neue"/>
              </a:rPr>
              <a:t>Replace  group_xxx  with the real group number.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680960" y="5376672"/>
            <a:ext cx="73152" cy="73152"/>
          </a:xfrm>
          <a:prstGeom prst="rect">
            <a:avLst/>
          </a:prstGeom>
          <a:solidFill>
            <a:srgbClr val="006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863840" y="5303520"/>
            <a:ext cx="37947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01828"/>
                </a:solidFill>
                <a:latin typeface="Helvetica Neue"/>
              </a:rPr>
              <a:t>Verify  mongorestore  on a clean local Mongo.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680960" y="5650992"/>
            <a:ext cx="73152" cy="73152"/>
          </a:xfrm>
          <a:prstGeom prst="rect">
            <a:avLst/>
          </a:prstGeom>
          <a:solidFill>
            <a:srgbClr val="006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863840" y="5577840"/>
            <a:ext cx="37947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01828"/>
                </a:solidFill>
                <a:latin typeface="Helvetica Neue"/>
              </a:rPr>
              <a:t>Run  db.sales_receipts.countDocuments()  → 1,000.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680960" y="5925312"/>
            <a:ext cx="73152" cy="73152"/>
          </a:xfrm>
          <a:prstGeom prst="rect">
            <a:avLst/>
          </a:prstGeom>
          <a:solidFill>
            <a:srgbClr val="006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863840" y="5852160"/>
            <a:ext cx="37947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01828"/>
                </a:solidFill>
                <a:latin typeface="Helvetica Neue"/>
              </a:rPr>
              <a:t>Submit one zip per group, on Moodle, by May 22.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548640" y="6035040"/>
            <a:ext cx="11094415" cy="0"/>
          </a:xfrm>
          <a:prstGeom prst="line">
            <a:avLst/>
          </a:prstGeom>
          <a:ln w="12700">
            <a:solidFill>
              <a:srgbClr val="B88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548640" y="612648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 i="1">
                <a:solidFill>
                  <a:srgbClr val="101828"/>
                </a:solidFill>
                <a:latin typeface="Georgia"/>
              </a:rPr>
              <a:t>Thank you. Questions next.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Macintosh PowerPoint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 Data Storage Final Project</dc:title>
  <dc:subject>MongoDB design for QuickCart Supermarket</dc:subject>
  <dc:creator/>
  <cp:keywords/>
  <dc:description/>
  <cp:lastModifiedBy/>
  <cp:revision>1</cp:revision>
</cp:coreProperties>
</file>