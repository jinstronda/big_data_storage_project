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193080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93080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93080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93080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93080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93080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93080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93080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93080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93080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93080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93080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57672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57672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57672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57672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57672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57672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357672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57672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57672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57672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357672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357672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22264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522264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22264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22264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522264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522264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22264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522264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22264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522264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522264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22264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86856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686856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86856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6856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86856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686856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686856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686856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686856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686856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686856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686856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851448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851448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51448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851448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851448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51448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851448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851448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51448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851448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851448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851448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016040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016040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016040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016040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016040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016040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016040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016040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016040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016040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016040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016040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180632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180632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180632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180632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180632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180632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180632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180632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180632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180632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180632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180632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345224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345224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345224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345224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345224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345224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345224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345224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345224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345224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345224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345224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6509816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509816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509816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509816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6509816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509816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509816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509816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509816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509816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509816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6509816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6674408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6674408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6674408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6674408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674408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6674408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4408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6674408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6674408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6674408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6674408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6674408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6839000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6839000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6839000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6839000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6839000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6839000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839000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839000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839000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6839000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6839000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6839000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7003592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7003592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7003592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7003592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7003592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7003592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7003592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7003592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7003592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7003592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7003592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7003592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7168184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7168184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7168184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7168184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7168184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7168184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7168184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7168184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7168184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7168184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168184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168184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32776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32776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32776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32776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32776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32776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32776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32776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32776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332776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332776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332776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497368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497368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497368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497368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497368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497368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497368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497368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7497368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7497368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7497368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7497368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7661960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7661960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7661960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661960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661960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661960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7661960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7661960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7661960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7661960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7661960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7661960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7826552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7826552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7826552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7826552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826552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7826552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7826552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7826552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7826552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7826552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7826552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7826552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7991144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7991144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7991144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7991144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7991144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7991144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7991144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991144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991144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7991144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7991144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7991144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8155736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8155736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155736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155736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155736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155736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8155736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8155736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8155736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8155736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8155736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8155736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8320328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8320328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8320328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8320328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8320328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8320328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8320328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8320328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320328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320328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8320328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8320328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8484920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8484920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8484920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8484920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8484920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8484920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8484920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8484920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8484920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8484920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8484920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8484920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8649512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8649512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8649512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8649512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8649512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8649512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8649512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8649512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8649512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8649512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8649512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8649512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8814104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8814104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8814104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8814104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8814104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8814104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8814104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814104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8814104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8814104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8814104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8814104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8978696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8978696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8978696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8978696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8978696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8978696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8978696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8978696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8978696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8978696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8978696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8978696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9143288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9143288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9143288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9143288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9143288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9143288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9143288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9143288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9143288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9143288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9143288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9143288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9307880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9307880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9307880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9307880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9307880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9307880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9307880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9307880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9307880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9307880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9307880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9307880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9472472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9472472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9472472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9472472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9472472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9472472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9472472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9472472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9472472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9472472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9472472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9472472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9637064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9637064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9637064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9637064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9637064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9637064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9637064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9637064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9637064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9637064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9637064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9637064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9801656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9801656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9801656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9801656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9801656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9801656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9801656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9801656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9801656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9801656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9801656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9801656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9966248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9966248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9966248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9966248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9966248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9966248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9966248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9966248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9966248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9966248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9966248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9966248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0130840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0130840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0130840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10130840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10130840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130840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10130840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10130840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10130840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10130840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10130840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10130840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10295432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10295432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10295432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10295432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10295432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10295432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10295432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10295432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10295432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10295432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10295432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10295432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10460024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10460024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10460024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10460024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10460024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10460024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10460024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10460024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10460024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10460024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10460024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0460024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10624616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10624616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10624616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10624616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10624616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10624616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10624616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10624616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10624616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10624616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10624616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10624616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10789208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10789208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10789208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10789208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10789208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10789208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10789208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10789208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10789208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10789208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10789208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10789208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10953800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10953800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10953800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10953800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10953800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10953800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10953800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10953800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10953800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10953800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10953800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10953800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11118392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11118392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11118392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11118392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11118392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11118392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11118392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11118392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11118392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11118392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11118392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11118392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11282984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11282984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11282984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11282984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11282984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11282984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11282984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11282984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11282984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11282984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11282984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11282984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11447576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11447576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11447576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11447576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11447576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11447576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11447576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11447576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11447576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11447576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11447576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11447576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11612168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11612168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11612168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11612168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11612168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11612168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11612168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11612168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11612168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11612168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11612168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xfrm>
            <a:off x="11612168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Oval 482"/>
          <p:cNvSpPr/>
          <p:nvPr/>
        </p:nvSpPr>
        <p:spPr>
          <a:xfrm>
            <a:off x="11776760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Oval 483"/>
          <p:cNvSpPr/>
          <p:nvPr/>
        </p:nvSpPr>
        <p:spPr>
          <a:xfrm>
            <a:off x="11776760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Oval 484"/>
          <p:cNvSpPr/>
          <p:nvPr/>
        </p:nvSpPr>
        <p:spPr>
          <a:xfrm>
            <a:off x="11776760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Oval 485"/>
          <p:cNvSpPr/>
          <p:nvPr/>
        </p:nvSpPr>
        <p:spPr>
          <a:xfrm>
            <a:off x="11776760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Oval 486"/>
          <p:cNvSpPr/>
          <p:nvPr/>
        </p:nvSpPr>
        <p:spPr>
          <a:xfrm>
            <a:off x="11776760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Oval 487"/>
          <p:cNvSpPr/>
          <p:nvPr/>
        </p:nvSpPr>
        <p:spPr>
          <a:xfrm>
            <a:off x="11776760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Oval 488"/>
          <p:cNvSpPr/>
          <p:nvPr/>
        </p:nvSpPr>
        <p:spPr>
          <a:xfrm>
            <a:off x="11776760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Oval 489"/>
          <p:cNvSpPr/>
          <p:nvPr/>
        </p:nvSpPr>
        <p:spPr>
          <a:xfrm>
            <a:off x="11776760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11776760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11776760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11776760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11776760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11941352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11941352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11941352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11941352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xfrm>
            <a:off x="11941352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11941352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11941352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Oval 501"/>
          <p:cNvSpPr/>
          <p:nvPr/>
        </p:nvSpPr>
        <p:spPr>
          <a:xfrm>
            <a:off x="11941352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11941352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Oval 503"/>
          <p:cNvSpPr/>
          <p:nvPr/>
        </p:nvSpPr>
        <p:spPr>
          <a:xfrm>
            <a:off x="11941352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Oval 504"/>
          <p:cNvSpPr/>
          <p:nvPr/>
        </p:nvSpPr>
        <p:spPr>
          <a:xfrm>
            <a:off x="11941352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Oval 505"/>
          <p:cNvSpPr/>
          <p:nvPr/>
        </p:nvSpPr>
        <p:spPr>
          <a:xfrm>
            <a:off x="11941352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Rectangle 506"/>
          <p:cNvSpPr/>
          <p:nvPr/>
        </p:nvSpPr>
        <p:spPr>
          <a:xfrm>
            <a:off x="548640" y="502920"/>
            <a:ext cx="2194560" cy="310896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TextBox 507"/>
          <p:cNvSpPr txBox="1"/>
          <p:nvPr/>
        </p:nvSpPr>
        <p:spPr>
          <a:xfrm>
            <a:off x="548640" y="502920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F6F2E8"/>
                </a:solidFill>
                <a:latin typeface="Helvetica Neue"/>
              </a:rPr>
              <a:t>  FINAL PROJECT</a:t>
            </a:r>
          </a:p>
        </p:txBody>
      </p:sp>
      <p:sp>
        <p:nvSpPr>
          <p:cNvPr id="509" name="Rectangle 508"/>
          <p:cNvSpPr/>
          <p:nvPr/>
        </p:nvSpPr>
        <p:spPr>
          <a:xfrm>
            <a:off x="548640" y="1280160"/>
            <a:ext cx="201168" cy="201168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TextBox 509"/>
          <p:cNvSpPr txBox="1"/>
          <p:nvPr/>
        </p:nvSpPr>
        <p:spPr>
          <a:xfrm>
            <a:off x="868680" y="124358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400">
                <a:solidFill>
                  <a:srgbClr val="F6F2E8"/>
                </a:solidFill>
                <a:latin typeface="Helvetica Neue"/>
              </a:rPr>
              <a:t>ONE COLLECTION  ·  ONE RECEIPT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548640" y="2011680"/>
            <a:ext cx="42976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0" i="0">
                <a:solidFill>
                  <a:srgbClr val="F6F2E8"/>
                </a:solidFill>
                <a:latin typeface="Georgia"/>
              </a:rPr>
              <a:t>QuickCart</a:t>
            </a:r>
          </a:p>
          <a:p>
            <a:pPr algn="l">
              <a:lnSpc>
                <a:spcPct val="100000"/>
              </a:lnSpc>
            </a:pPr>
            <a:r>
              <a:rPr sz="5200" b="0" i="0">
                <a:solidFill>
                  <a:srgbClr val="F6F2E8"/>
                </a:solidFill>
                <a:latin typeface="Georgia"/>
              </a:rPr>
              <a:t>Supermarket.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48640" y="4069080"/>
            <a:ext cx="4206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CFC9BA"/>
                </a:solidFill>
                <a:latin typeface="Georgia"/>
              </a:rPr>
              <a:t>“A checkout receipt is</a:t>
            </a:r>
          </a:p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CFC9BA"/>
                </a:solidFill>
                <a:latin typeface="Georgia"/>
              </a:rPr>
              <a:t>the smallest unit a manager</a:t>
            </a:r>
          </a:p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CFC9BA"/>
                </a:solidFill>
                <a:latin typeface="Georgia"/>
              </a:rPr>
              <a:t>ever reads.</a:t>
            </a:r>
          </a:p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CFC9BA"/>
                </a:solidFill>
                <a:latin typeface="Georgia"/>
              </a:rPr>
              <a:t>So it’s the unit we store.”</a:t>
            </a:r>
          </a:p>
        </p:txBody>
      </p:sp>
      <p:cxnSp>
        <p:nvCxnSpPr>
          <p:cNvPr id="513" name="Connector 512"/>
          <p:cNvCxnSpPr/>
          <p:nvPr/>
        </p:nvCxnSpPr>
        <p:spPr>
          <a:xfrm>
            <a:off x="548640" y="5989320"/>
            <a:ext cx="3840480" cy="0"/>
          </a:xfrm>
          <a:prstGeom prst="line">
            <a:avLst/>
          </a:prstGeom>
          <a:ln w="6350">
            <a:solidFill>
              <a:srgbClr val="353C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4" name="TextBox 513"/>
          <p:cNvSpPr txBox="1"/>
          <p:nvPr/>
        </p:nvSpPr>
        <p:spPr>
          <a:xfrm>
            <a:off x="548640" y="61264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350">
                <a:solidFill>
                  <a:srgbClr val="CFC9BA"/>
                </a:solidFill>
                <a:latin typeface="Helvetica Neue"/>
              </a:rPr>
              <a:t>BIG DATA STORAGE  ·  PRACTICAL · 70%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548640" y="63550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 spc="300">
                <a:solidFill>
                  <a:srgbClr val="CFC9BA"/>
                </a:solidFill>
                <a:latin typeface="Helvetica Neue"/>
              </a:rPr>
              <a:t>NOVA IMS LISBOA  ·  MAY 2026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5349240" y="5943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450">
                <a:solidFill>
                  <a:srgbClr val="00684A"/>
                </a:solidFill>
                <a:latin typeface="Helvetica Neue"/>
              </a:rPr>
              <a:t>THE PACKAGE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5349240" y="960120"/>
            <a:ext cx="6583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01828"/>
                </a:solidFill>
                <a:latin typeface="Georgia"/>
              </a:rPr>
              <a:t>One MongoDB collection</a:t>
            </a:r>
          </a:p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01828"/>
                </a:solidFill>
                <a:latin typeface="Georgia"/>
              </a:rPr>
              <a:t>that reads like the</a:t>
            </a:r>
          </a:p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01828"/>
                </a:solidFill>
                <a:latin typeface="Georgia"/>
              </a:rPr>
              <a:t>checkout receipt itself.</a:t>
            </a:r>
          </a:p>
        </p:txBody>
      </p:sp>
      <p:sp>
        <p:nvSpPr>
          <p:cNvPr id="518" name="Rectangle 517"/>
          <p:cNvSpPr/>
          <p:nvPr/>
        </p:nvSpPr>
        <p:spPr>
          <a:xfrm>
            <a:off x="5349240" y="3063240"/>
            <a:ext cx="1645920" cy="36576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TextBox 518"/>
          <p:cNvSpPr txBox="1"/>
          <p:nvPr/>
        </p:nvSpPr>
        <p:spPr>
          <a:xfrm>
            <a:off x="5349240" y="320040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101828"/>
                </a:solidFill>
                <a:latin typeface="Georgia"/>
              </a:rPr>
              <a:t>1,000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5349240" y="390448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150">
                <a:solidFill>
                  <a:srgbClr val="5F6A7A"/>
                </a:solidFill>
                <a:latin typeface="Helvetica Neue"/>
              </a:rPr>
              <a:t>receipt documents</a:t>
            </a:r>
          </a:p>
        </p:txBody>
      </p:sp>
      <p:sp>
        <p:nvSpPr>
          <p:cNvPr id="521" name="Rectangle 520"/>
          <p:cNvSpPr/>
          <p:nvPr/>
        </p:nvSpPr>
        <p:spPr>
          <a:xfrm>
            <a:off x="7040880" y="3063240"/>
            <a:ext cx="1645920" cy="36576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TextBox 521"/>
          <p:cNvSpPr txBox="1"/>
          <p:nvPr/>
        </p:nvSpPr>
        <p:spPr>
          <a:xfrm>
            <a:off x="7040880" y="320040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101828"/>
                </a:solidFill>
                <a:latin typeface="Georgia"/>
              </a:rPr>
              <a:t>3</a:t>
            </a:r>
          </a:p>
        </p:txBody>
      </p:sp>
      <p:sp>
        <p:nvSpPr>
          <p:cNvPr id="523" name="TextBox 522"/>
          <p:cNvSpPr txBox="1"/>
          <p:nvPr/>
        </p:nvSpPr>
        <p:spPr>
          <a:xfrm>
            <a:off x="7040880" y="390448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150">
                <a:solidFill>
                  <a:srgbClr val="5F6A7A"/>
                </a:solidFill>
                <a:latin typeface="Helvetica Neue"/>
              </a:rPr>
              <a:t>branches · Myanmar</a:t>
            </a:r>
          </a:p>
        </p:txBody>
      </p:sp>
      <p:sp>
        <p:nvSpPr>
          <p:cNvPr id="524" name="Rectangle 523"/>
          <p:cNvSpPr/>
          <p:nvPr/>
        </p:nvSpPr>
        <p:spPr>
          <a:xfrm>
            <a:off x="8732520" y="3063240"/>
            <a:ext cx="1645920" cy="36576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TextBox 524"/>
          <p:cNvSpPr txBox="1"/>
          <p:nvPr/>
        </p:nvSpPr>
        <p:spPr>
          <a:xfrm>
            <a:off x="8732520" y="320040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101828"/>
                </a:solidFill>
                <a:latin typeface="Georgia"/>
              </a:rPr>
              <a:t>6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8732520" y="390448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150">
                <a:solidFill>
                  <a:srgbClr val="5F6A7A"/>
                </a:solidFill>
                <a:latin typeface="Helvetica Neue"/>
              </a:rPr>
              <a:t>product lines</a:t>
            </a:r>
          </a:p>
        </p:txBody>
      </p:sp>
      <p:sp>
        <p:nvSpPr>
          <p:cNvPr id="527" name="Rectangle 526"/>
          <p:cNvSpPr/>
          <p:nvPr/>
        </p:nvSpPr>
        <p:spPr>
          <a:xfrm>
            <a:off x="10424160" y="3063240"/>
            <a:ext cx="1645920" cy="36576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TextBox 527"/>
          <p:cNvSpPr txBox="1"/>
          <p:nvPr/>
        </p:nvSpPr>
        <p:spPr>
          <a:xfrm>
            <a:off x="10424160" y="320040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101828"/>
                </a:solidFill>
                <a:latin typeface="Georgia"/>
              </a:rPr>
              <a:t>$322,966.75</a:t>
            </a:r>
          </a:p>
        </p:txBody>
      </p:sp>
      <p:sp>
        <p:nvSpPr>
          <p:cNvPr id="529" name="TextBox 528"/>
          <p:cNvSpPr txBox="1"/>
          <p:nvPr/>
        </p:nvSpPr>
        <p:spPr>
          <a:xfrm>
            <a:off x="10424160" y="390448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150">
                <a:solidFill>
                  <a:srgbClr val="5F6A7A"/>
                </a:solidFill>
                <a:latin typeface="Helvetica Neue"/>
              </a:rPr>
              <a:t>total revenue Q1 2019</a:t>
            </a:r>
          </a:p>
        </p:txBody>
      </p:sp>
      <p:cxnSp>
        <p:nvCxnSpPr>
          <p:cNvPr id="530" name="Connector 529"/>
          <p:cNvCxnSpPr/>
          <p:nvPr/>
        </p:nvCxnSpPr>
        <p:spPr>
          <a:xfrm>
            <a:off x="5349240" y="4617720"/>
            <a:ext cx="6583680" cy="0"/>
          </a:xfrm>
          <a:prstGeom prst="line">
            <a:avLst/>
          </a:prstGeom>
          <a:ln w="6350">
            <a:solidFill>
              <a:srgbClr val="D8D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>
            <a:off x="5349240" y="5532120.0"/>
            <a:ext cx="6583680" cy="0.0"/>
          </a:xfrm>
          <a:prstGeom prst="line">
            <a:avLst/>
          </a:prstGeom>
          <a:ln w="5080">
            <a:solidFill>
              <a:srgbClr val="ECE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>
            <a:off x="5349240" y="5879592.0"/>
            <a:ext cx="6583680" cy="0.0"/>
          </a:xfrm>
          <a:prstGeom prst="line">
            <a:avLst/>
          </a:prstGeom>
          <a:ln w="5080">
            <a:solidFill>
              <a:srgbClr val="ECE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>
            <a:off x="5349240" y="6227064.0"/>
            <a:ext cx="6583680" cy="0.0"/>
          </a:xfrm>
          <a:prstGeom prst="line">
            <a:avLst/>
          </a:prstGeom>
          <a:ln w="5080">
            <a:solidFill>
              <a:srgbClr val="ECE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>
            <a:off x="5349240" y="6574536.0"/>
            <a:ext cx="6583680" cy="0.0"/>
          </a:xfrm>
          <a:prstGeom prst="line">
            <a:avLst/>
          </a:prstGeom>
          <a:ln w="5080">
            <a:solidFill>
              <a:srgbClr val="ECE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>
            <a:off x="5349240" y="4736592"/>
            <a:ext cx="6583680" cy="0"/>
          </a:xfrm>
          <a:prstGeom prst="line">
            <a:avLst/>
          </a:prstGeom>
          <a:ln w="6350">
            <a:solidFill>
              <a:srgbClr val="D8D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5349240" y="4846320"/>
            <a:ext cx="6400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B88A2E"/>
                </a:solidFill>
                <a:latin typeface="Helvetica Neue"/>
              </a:rPr>
              <a:t>GROUP 11  ·  TEAM</a:t>
            </a:r>
          </a:p>
        </p:txBody>
      </p:sp>
      <p:sp>
        <p:nvSpPr>
          <p:cNvPr id="549" name="Rectangle 548"/>
          <p:cNvSpPr/>
          <p:nvPr/>
        </p:nvSpPr>
        <p:spPr>
          <a:xfrm>
            <a:off x="5349240" y="5102352"/>
            <a:ext cx="54864" cy="274320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0" name="Connector 549"/>
          <p:cNvCxnSpPr/>
          <p:nvPr/>
        </p:nvCxnSpPr>
        <p:spPr>
          <a:xfrm>
            <a:off x="5349240" y="5394960.0"/>
            <a:ext cx="6583680" cy="0.0"/>
          </a:xfrm>
          <a:prstGeom prst="line">
            <a:avLst/>
          </a:prstGeom>
          <a:ln w="5080">
            <a:solidFill>
              <a:srgbClr val="ECE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5532120" y="5102352"/>
            <a:ext cx="43891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01828"/>
                </a:solidFill>
                <a:latin typeface="Helvetica Neue"/>
              </a:rPr>
              <a:t>Daniyal Ahmad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829800" y="5102352"/>
            <a:ext cx="20574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 i="0">
                <a:solidFill>
                  <a:srgbClr val="00684A"/>
                </a:solidFill>
                <a:latin typeface="Menlo"/>
              </a:rPr>
              <a:t>20241831</a:t>
            </a:r>
          </a:p>
        </p:txBody>
      </p:sp>
      <p:sp>
        <p:nvSpPr>
          <p:cNvPr id="553" name="Rectangle 552"/>
          <p:cNvSpPr/>
          <p:nvPr/>
        </p:nvSpPr>
        <p:spPr>
          <a:xfrm>
            <a:off x="5349240" y="5413248"/>
            <a:ext cx="54864" cy="274320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4" name="Connector 553"/>
          <p:cNvCxnSpPr/>
          <p:nvPr/>
        </p:nvCxnSpPr>
        <p:spPr>
          <a:xfrm>
            <a:off x="5349240" y="5705856.0"/>
            <a:ext cx="6583680" cy="0.0"/>
          </a:xfrm>
          <a:prstGeom prst="line">
            <a:avLst/>
          </a:prstGeom>
          <a:ln w="5080">
            <a:solidFill>
              <a:srgbClr val="ECE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5532120" y="5413248"/>
            <a:ext cx="43891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01828"/>
                </a:solidFill>
                <a:latin typeface="Helvetica Neue"/>
              </a:rPr>
              <a:t>Artemii Alekseev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829800" y="5413248"/>
            <a:ext cx="20574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 i="0">
                <a:solidFill>
                  <a:srgbClr val="00684A"/>
                </a:solidFill>
                <a:latin typeface="Menlo"/>
              </a:rPr>
              <a:t>20240645</a:t>
            </a:r>
          </a:p>
        </p:txBody>
      </p:sp>
      <p:sp>
        <p:nvSpPr>
          <p:cNvPr id="557" name="Rectangle 556"/>
          <p:cNvSpPr/>
          <p:nvPr/>
        </p:nvSpPr>
        <p:spPr>
          <a:xfrm>
            <a:off x="5349240" y="5724144"/>
            <a:ext cx="54864" cy="274320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8" name="Connector 557"/>
          <p:cNvCxnSpPr/>
          <p:nvPr/>
        </p:nvCxnSpPr>
        <p:spPr>
          <a:xfrm>
            <a:off x="5349240" y="6016752.0"/>
            <a:ext cx="6583680" cy="0.0"/>
          </a:xfrm>
          <a:prstGeom prst="line">
            <a:avLst/>
          </a:prstGeom>
          <a:ln w="5080">
            <a:solidFill>
              <a:srgbClr val="ECE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9" name="TextBox 558"/>
          <p:cNvSpPr txBox="1"/>
          <p:nvPr/>
        </p:nvSpPr>
        <p:spPr>
          <a:xfrm>
            <a:off x="5532120" y="5724144"/>
            <a:ext cx="43891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01828"/>
                </a:solidFill>
                <a:latin typeface="Helvetica Neue"/>
              </a:rPr>
              <a:t>Ivan Romanov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9829800" y="5724144"/>
            <a:ext cx="20574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 i="0">
                <a:solidFill>
                  <a:srgbClr val="00684A"/>
                </a:solidFill>
                <a:latin typeface="Menlo"/>
              </a:rPr>
              <a:t>20240639</a:t>
            </a:r>
          </a:p>
        </p:txBody>
      </p:sp>
      <p:sp>
        <p:nvSpPr>
          <p:cNvPr id="561" name="Rectangle 560"/>
          <p:cNvSpPr/>
          <p:nvPr/>
        </p:nvSpPr>
        <p:spPr>
          <a:xfrm>
            <a:off x="5349240" y="6035040"/>
            <a:ext cx="54864" cy="274320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2" name="Connector 561"/>
          <p:cNvCxnSpPr/>
          <p:nvPr/>
        </p:nvCxnSpPr>
        <p:spPr>
          <a:xfrm>
            <a:off x="5349240" y="6327648.0"/>
            <a:ext cx="6583680" cy="0.0"/>
          </a:xfrm>
          <a:prstGeom prst="line">
            <a:avLst/>
          </a:prstGeom>
          <a:ln w="5080">
            <a:solidFill>
              <a:srgbClr val="ECE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3" name="TextBox 562"/>
          <p:cNvSpPr txBox="1"/>
          <p:nvPr/>
        </p:nvSpPr>
        <p:spPr>
          <a:xfrm>
            <a:off x="5532120" y="6035040"/>
            <a:ext cx="43891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01828"/>
                </a:solidFill>
                <a:latin typeface="Helvetica Neue"/>
              </a:rPr>
              <a:t>Viktoriia German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9829800" y="6035040"/>
            <a:ext cx="20574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 i="0">
                <a:solidFill>
                  <a:srgbClr val="00684A"/>
                </a:solidFill>
                <a:latin typeface="Menlo"/>
              </a:rPr>
              <a:t>20240650</a:t>
            </a:r>
          </a:p>
        </p:txBody>
      </p:sp>
      <p:sp>
        <p:nvSpPr>
          <p:cNvPr id="565" name="Rectangle 564"/>
          <p:cNvSpPr/>
          <p:nvPr/>
        </p:nvSpPr>
        <p:spPr>
          <a:xfrm>
            <a:off x="5349240" y="6345936"/>
            <a:ext cx="54864" cy="274320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TextBox 565"/>
          <p:cNvSpPr txBox="1"/>
          <p:nvPr/>
        </p:nvSpPr>
        <p:spPr>
          <a:xfrm>
            <a:off x="5532120" y="6345936"/>
            <a:ext cx="43891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01828"/>
                </a:solidFill>
                <a:latin typeface="Helvetica Neue"/>
              </a:rPr>
              <a:t>João Panizzutti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9829800" y="6345936"/>
            <a:ext cx="20574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 i="0">
                <a:solidFill>
                  <a:srgbClr val="00684A"/>
                </a:solidFill>
                <a:latin typeface="Menlo"/>
              </a:rPr>
              <a:t>20241624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02920"/>
            <a:ext cx="11094415" cy="0"/>
          </a:xfrm>
          <a:prstGeom prst="line">
            <a:avLst/>
          </a:prstGeom>
          <a:ln w="9525">
            <a:solidFill>
              <a:srgbClr val="101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350">
                <a:solidFill>
                  <a:srgbClr val="5F6A7A"/>
                </a:solidFill>
                <a:latin typeface="Helvetica Neue"/>
              </a:rPr>
              <a:t>QUICKCART  ·  BIG DATA STORAGE  · 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1" i="0" spc="200">
                <a:solidFill>
                  <a:srgbClr val="5F6A7A"/>
                </a:solidFill>
                <a:latin typeface="Helvetica Neue"/>
              </a:rPr>
              <a:t>02 / 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D8D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350">
                <a:solidFill>
                  <a:srgbClr val="5F6A7A"/>
                </a:solidFill>
                <a:latin typeface="Helvetica Neue"/>
              </a:rPr>
              <a:t>A — COMPANY &amp; DATASET RATIONALE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255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 spc="200">
                <a:solidFill>
                  <a:srgbClr val="5F6A7A"/>
                </a:solidFill>
                <a:latin typeface="Helvetica Neue"/>
              </a:rPr>
              <a:t>NOVA IMS  ·  2025/26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00684A"/>
                </a:solidFill>
                <a:latin typeface="Helvetica Neue"/>
              </a:rPr>
              <a:t>A  ·  THE COMPANY, THE DATA, THE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101828"/>
                </a:solidFill>
                <a:latin typeface="Georgia"/>
              </a:rPr>
              <a:t>From a checkout queue</a:t>
            </a:r>
          </a:p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101828"/>
                </a:solidFill>
                <a:latin typeface="Georgia"/>
              </a:rPr>
              <a:t>to a queryable document.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3657600" cy="2971800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246120"/>
            <a:ext cx="164592" cy="2971800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20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00684A"/>
                </a:solidFill>
                <a:latin typeface="Helvetica Neue"/>
              </a:rPr>
              <a:t>THE COMPANY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101828"/>
                </a:solidFill>
                <a:latin typeface="Georgia"/>
              </a:rPr>
              <a:t>QuickCart, three branches.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26280"/>
            <a:ext cx="283464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01828"/>
                </a:solidFill>
                <a:latin typeface="Helvetica Neue"/>
              </a:rPr>
              <a:t>A retail chain serving Yangon, Mandalay, and Naypyitaw. Six product lines: food, electronics, fashion, sports, home, and health &amp; beauty. The checkout is the only place every part of the business touches the customer at once.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3246120"/>
            <a:ext cx="3657600" cy="2971800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3246120"/>
            <a:ext cx="164592" cy="297180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3520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B88A2E"/>
                </a:solidFill>
                <a:latin typeface="Helvetica Neue"/>
              </a:rPr>
              <a:t>THE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8404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101828"/>
                </a:solidFill>
                <a:latin typeface="Georgia"/>
              </a:rPr>
              <a:t>1,000 receipts, Q1 2019.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526280"/>
            <a:ext cx="283464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01828"/>
                </a:solidFill>
                <a:latin typeface="Helvetica Neue"/>
              </a:rPr>
              <a:t>Each row is a complete sale: branch, customer type, gender, item line, payment method, totals, gross income, and a 0–10 customer rating. CSV in, MongoDB out, no information lost.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3246120"/>
            <a:ext cx="3657600" cy="2971800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0" y="3246120"/>
            <a:ext cx="164592" cy="2971800"/>
          </a:xfrm>
          <a:prstGeom prst="rect">
            <a:avLst/>
          </a:prstGeom>
          <a:solidFill>
            <a:srgbClr val="A84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3520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A84A2A"/>
                </a:solidFill>
                <a:latin typeface="Helvetica Neue"/>
              </a:rPr>
              <a:t>THE 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38404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101828"/>
                </a:solidFill>
                <a:latin typeface="Georgia"/>
              </a:rPr>
              <a:t>Receipt → document.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4526280"/>
            <a:ext cx="283464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01828"/>
                </a:solidFill>
                <a:latin typeface="Helvetica Neue"/>
              </a:rPr>
              <a:t>A receipt is a nested object: header, items, totals, payment. SQL would shred it across five tables. MongoDB stores it as one document and reads it back the same way — no joins, ever.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263640"/>
            <a:ext cx="11094415" cy="36576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F6A7A"/>
                </a:solidFill>
                <a:latin typeface="Helvetica Neue"/>
              </a:rPr>
              <a:t>Source: supermarket_sales.csv  ·  1,000 rows  ·  17 columns  ·  cleaned, validated, restructured into one BSON collection.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02920"/>
            <a:ext cx="11094415" cy="0"/>
          </a:xfrm>
          <a:prstGeom prst="line">
            <a:avLst/>
          </a:prstGeom>
          <a:ln w="9525">
            <a:solidFill>
              <a:srgbClr val="101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350">
                <a:solidFill>
                  <a:srgbClr val="5F6A7A"/>
                </a:solidFill>
                <a:latin typeface="Helvetica Neue"/>
              </a:rPr>
              <a:t>QUICKCART  ·  BIG DATA STORAGE  · 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1" i="0" spc="200">
                <a:solidFill>
                  <a:srgbClr val="5F6A7A"/>
                </a:solidFill>
                <a:latin typeface="Helvetica Neue"/>
              </a:rPr>
              <a:t>03 / 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D8D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350">
                <a:solidFill>
                  <a:srgbClr val="5F6A7A"/>
                </a:solidFill>
                <a:latin typeface="Helvetica Neue"/>
              </a:rPr>
              <a:t>B — SCHEMA &amp;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255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 spc="200">
                <a:solidFill>
                  <a:srgbClr val="5F6A7A"/>
                </a:solidFill>
                <a:latin typeface="Helvetica Neue"/>
              </a:rPr>
              <a:t>NOVA IMS  ·  2025/26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00684A"/>
                </a:solidFill>
                <a:latin typeface="Helvetica Neue"/>
              </a:rPr>
              <a:t>B  ·  AT MOST 10 COLLECTIONS  ·  WE CHOSE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0" i="0">
                <a:solidFill>
                  <a:srgbClr val="101828"/>
                </a:solidFill>
                <a:latin typeface="Georgia"/>
              </a:rPr>
              <a:t>sales_receipts.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6492240" cy="3657600"/>
          </a:xfrm>
          <a:prstGeom prst="rect">
            <a:avLst/>
          </a:prstGeom>
          <a:solidFill>
            <a:srgbClr val="1C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2788920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0976" y="2788920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2144" y="278892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275234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80">
                <a:solidFill>
                  <a:srgbClr val="A8AEBE"/>
                </a:solidFill>
                <a:latin typeface="Menlo"/>
              </a:rPr>
              <a:t>mongosh  ·  group_11  ›  db.sales_receipts.findOne()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3108960"/>
            <a:ext cx="6492240" cy="0"/>
          </a:xfrm>
          <a:prstGeom prst="line">
            <a:avLst/>
          </a:prstGeom>
          <a:ln w="6350">
            <a:solidFill>
              <a:srgbClr val="2E3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3246120"/>
            <a:ext cx="58521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{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_id:           "750-67-8428",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invoice_id:    "750-67-8428",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branch:        { code: "C", city: "Naypyitaw" },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customer:      { type: "Member", gender: "Female" },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items: [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  { product_line: "Food and beverages",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    unit_price: 54.84, quantity: 7,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    line_cogs: 383.88, tax_5: 19.19,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    line_total: 403.07, gross_income: 19.19 }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],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sale_datetime: ISODate("2019-03-09T18:32:00Z"),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sale_month: "2019-03",   sale_hour: 18,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payment:       { method: "Credit card" },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financials:    { cogs: 383.88, total: 403.07,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                 gross_income: 19.19 },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rating:        8.4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260604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01828"/>
                </a:solidFill>
                <a:latin typeface="Helvetica Neue"/>
              </a:rPr>
              <a:t>Why one collection.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971800"/>
            <a:ext cx="4297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01828"/>
                </a:solidFill>
                <a:latin typeface="Helvetica Neue"/>
              </a:rPr>
              <a:t>Every required query is a read on one receipt or an aggregation across receipts. A second collection would buy nothing for this dataset.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416052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0684A"/>
                </a:solidFill>
                <a:latin typeface="Helvetica Neue"/>
              </a:rPr>
              <a:t>Advantages.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443484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01828"/>
                </a:solidFill>
                <a:latin typeface="Helvetica Neue"/>
              </a:rPr>
              <a:t>Reads are atomic. The validator covers the whole receipt. Aggregations stay on a single pipeline. Schema reads like a sales log.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534924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A84A2A"/>
                </a:solidFill>
                <a:latin typeface="Helvetica Neue"/>
              </a:rPr>
              <a:t>Disadvantages.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562356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01828"/>
                </a:solidFill>
                <a:latin typeface="Helvetica Neue"/>
              </a:rPr>
              <a:t>Branch and product strings repeat. Acceptable here. A production chain would add inventory, supplier, and promotions later.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02920"/>
            <a:ext cx="11094415" cy="0"/>
          </a:xfrm>
          <a:prstGeom prst="line">
            <a:avLst/>
          </a:prstGeom>
          <a:ln w="9525">
            <a:solidFill>
              <a:srgbClr val="101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350">
                <a:solidFill>
                  <a:srgbClr val="5F6A7A"/>
                </a:solidFill>
                <a:latin typeface="Helvetica Neue"/>
              </a:rPr>
              <a:t>QUICKCART  ·  BIG DATA STORAGE  · 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1" i="0" spc="200">
                <a:solidFill>
                  <a:srgbClr val="5F6A7A"/>
                </a:solidFill>
                <a:latin typeface="Helvetica Neue"/>
              </a:rPr>
              <a:t>04 / 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D8D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350">
                <a:solidFill>
                  <a:srgbClr val="5F6A7A"/>
                </a:solidFill>
                <a:latin typeface="Helvetica Neue"/>
              </a:rPr>
              <a:t>C &amp; D — QUALITY AND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255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 spc="200">
                <a:solidFill>
                  <a:srgbClr val="5F6A7A"/>
                </a:solidFill>
                <a:latin typeface="Helvetica Neue"/>
              </a:rPr>
              <a:t>NOVA IMS  ·  2025/26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00684A"/>
                </a:solidFill>
                <a:latin typeface="Helvetica Neue"/>
              </a:rPr>
              <a:t>C &amp; D  ·  TYPED, CLEANED, ENFORCED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101828"/>
                </a:solidFill>
                <a:latin typeface="Georgia"/>
              </a:rPr>
              <a:t>Strict at the door,</a:t>
            </a:r>
          </a:p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101828"/>
                </a:solidFill>
                <a:latin typeface="Georgia"/>
              </a:rPr>
              <a:t>fast on the read.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400">
                <a:solidFill>
                  <a:srgbClr val="00684A"/>
                </a:solidFill>
                <a:latin typeface="Helvetica Neue"/>
              </a:rPr>
              <a:t>C  ·  DATA QUALITY OPERATIONS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66160"/>
            <a:ext cx="2212848" cy="1051560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03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B88A2E"/>
                </a:solidFill>
                <a:latin typeface="Georgia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721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101828"/>
                </a:solidFill>
                <a:latin typeface="Helvetica Neue"/>
              </a:rPr>
              <a:t>Parsed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23360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5F6A7A"/>
                </a:solidFill>
                <a:latin typeface="Helvetica Neue"/>
              </a:rPr>
              <a:t>Date + Time merged into ISO BSON date.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98064" y="3566160"/>
            <a:ext cx="2212848" cy="1051560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26664" y="3703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B88A2E"/>
                </a:solidFill>
                <a:latin typeface="Georgi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3721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101828"/>
                </a:solidFill>
                <a:latin typeface="Helvetica Neue"/>
              </a:rPr>
              <a:t>Cast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6664" y="4023360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5F6A7A"/>
                </a:solidFill>
                <a:latin typeface="Helvetica Neue"/>
              </a:rPr>
              <a:t>Prices, taxes, totals, ratings → double.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47488" y="3566160"/>
            <a:ext cx="2212848" cy="1051560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6088" y="3703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B88A2E"/>
                </a:solidFill>
                <a:latin typeface="Georgi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4728" y="3721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101828"/>
                </a:solidFill>
                <a:latin typeface="Helvetica Neue"/>
              </a:rPr>
              <a:t>Dedup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4023360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5F6A7A"/>
                </a:solidFill>
                <a:latin typeface="Helvetica Neue"/>
              </a:rPr>
              <a:t>Duplicate invoice_id rows removed.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96912" y="3566160"/>
            <a:ext cx="2212848" cy="1051560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3703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B88A2E"/>
                </a:solidFill>
                <a:latin typeface="Georgia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4152" y="3721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101828"/>
                </a:solidFill>
                <a:latin typeface="Helvetica Neue"/>
              </a:rPr>
              <a:t>Derive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512" y="4023360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5F6A7A"/>
                </a:solidFill>
                <a:latin typeface="Helvetica Neue"/>
              </a:rPr>
              <a:t>sale_month, sale_weekday, sale_hour.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46336" y="3566160"/>
            <a:ext cx="2212848" cy="1051560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74936" y="3703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B88A2E"/>
                </a:solidFill>
                <a:latin typeface="Georgia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23576" y="3721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101828"/>
                </a:solidFill>
                <a:latin typeface="Helvetica Neue"/>
              </a:rPr>
              <a:t>Trim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74936" y="4023360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5F6A7A"/>
                </a:solidFill>
                <a:latin typeface="Helvetica Neue"/>
              </a:rPr>
              <a:t>Branch city names standardised.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46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400">
                <a:solidFill>
                  <a:srgbClr val="00684A"/>
                </a:solidFill>
                <a:latin typeface="Helvetica Neue"/>
              </a:rPr>
              <a:t>D  ·  VALIDATION RULES (JSON SCHEMA, strict)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166360"/>
            <a:ext cx="2212848" cy="1097280"/>
          </a:xfrm>
          <a:prstGeom prst="rect">
            <a:avLst/>
          </a:prstGeom>
          <a:solidFill>
            <a:srgbClr val="1C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303520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400">
                <a:solidFill>
                  <a:srgbClr val="2E8B57"/>
                </a:solidFill>
                <a:latin typeface="Helvetica Neue"/>
              </a:rPr>
              <a:t>REQUIRED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55955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6F2E8"/>
                </a:solidFill>
                <a:latin typeface="Helvetica Neue"/>
              </a:rPr>
              <a:t>11 fields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806440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CFC9BA"/>
                </a:solidFill>
                <a:latin typeface="Menlo"/>
              </a:rPr>
              <a:t>_id, invoice_id, branch, customer, items 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98064" y="5166360"/>
            <a:ext cx="2212848" cy="1097280"/>
          </a:xfrm>
          <a:prstGeom prst="rect">
            <a:avLst/>
          </a:prstGeom>
          <a:solidFill>
            <a:srgbClr val="1C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26664" y="5303520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400">
                <a:solidFill>
                  <a:srgbClr val="2E8B57"/>
                </a:solidFill>
                <a:latin typeface="Helvetica Neue"/>
              </a:rPr>
              <a:t>PATTERN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26664" y="555955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6F2E8"/>
                </a:solidFill>
                <a:latin typeface="Helvetica Neue"/>
              </a:rPr>
              <a:t>Invoice 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26664" y="5806440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CFC9BA"/>
                </a:solidFill>
                <a:latin typeface="Menlo"/>
              </a:rPr>
              <a:t>^[0-9]{3}-[0-9]{2}-[0-9]{4}$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47488" y="5166360"/>
            <a:ext cx="2212848" cy="1097280"/>
          </a:xfrm>
          <a:prstGeom prst="rect">
            <a:avLst/>
          </a:prstGeom>
          <a:solidFill>
            <a:srgbClr val="1C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76088" y="5303520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400">
                <a:solidFill>
                  <a:srgbClr val="2E8B57"/>
                </a:solidFill>
                <a:latin typeface="Helvetica Neue"/>
              </a:rPr>
              <a:t>ENUM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76088" y="555955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6F2E8"/>
                </a:solidFill>
                <a:latin typeface="Helvetica Neue"/>
              </a:rPr>
              <a:t>Categories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76088" y="5806440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CFC9BA"/>
                </a:solidFill>
                <a:latin typeface="Menlo"/>
              </a:rPr>
              <a:t>branch · city · gender · payment · product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96912" y="5166360"/>
            <a:ext cx="2212848" cy="1097280"/>
          </a:xfrm>
          <a:prstGeom prst="rect">
            <a:avLst/>
          </a:prstGeom>
          <a:solidFill>
            <a:srgbClr val="1C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25512" y="5303520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400">
                <a:solidFill>
                  <a:srgbClr val="2E8B57"/>
                </a:solidFill>
                <a:latin typeface="Helvetica Neue"/>
              </a:rPr>
              <a:t>MIN/MAX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25512" y="555955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6F2E8"/>
                </a:solidFill>
                <a:latin typeface="Helvetica Neue"/>
              </a:rPr>
              <a:t>Quantities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25512" y="5806440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CFC9BA"/>
                </a:solidFill>
                <a:latin typeface="Menlo"/>
              </a:rPr>
              <a:t>quantity ≥ 1   ·   rating ∈ [0, 10]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46336" y="5166360"/>
            <a:ext cx="2212848" cy="1097280"/>
          </a:xfrm>
          <a:prstGeom prst="rect">
            <a:avLst/>
          </a:prstGeom>
          <a:solidFill>
            <a:srgbClr val="1C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74936" y="5303520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400">
                <a:solidFill>
                  <a:srgbClr val="2E8B57"/>
                </a:solidFill>
                <a:latin typeface="Helvetica Neue"/>
              </a:rPr>
              <a:t>BOUNDED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74936" y="555955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6F2E8"/>
                </a:solidFill>
                <a:latin typeface="Helvetica Neue"/>
              </a:rPr>
              <a:t>Financials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74936" y="5806440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CFC9BA"/>
                </a:solidFill>
                <a:latin typeface="Menlo"/>
              </a:rPr>
              <a:t>cogs, total, gross_income  ≥ 0  ·  hour 0–23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02920"/>
            <a:ext cx="11094415" cy="0"/>
          </a:xfrm>
          <a:prstGeom prst="line">
            <a:avLst/>
          </a:prstGeom>
          <a:ln w="9525">
            <a:solidFill>
              <a:srgbClr val="101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350">
                <a:solidFill>
                  <a:srgbClr val="5F6A7A"/>
                </a:solidFill>
                <a:latin typeface="Helvetica Neue"/>
              </a:rPr>
              <a:t>QUICKCART  ·  BIG DATA STORAGE  · 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1" i="0" spc="200">
                <a:solidFill>
                  <a:srgbClr val="5F6A7A"/>
                </a:solidFill>
                <a:latin typeface="Helvetica Neue"/>
              </a:rPr>
              <a:t>05 / 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D8D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350">
                <a:solidFill>
                  <a:srgbClr val="5F6A7A"/>
                </a:solidFill>
                <a:latin typeface="Helvetica Neue"/>
              </a:rPr>
              <a:t>FINDINGS — THE RECEIPTS SPEAK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255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 spc="200">
                <a:solidFill>
                  <a:srgbClr val="5F6A7A"/>
                </a:solidFill>
                <a:latin typeface="Helvetica Neue"/>
              </a:rPr>
              <a:t>NOVA IMS  ·  2025/26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00684A"/>
                </a:solidFill>
                <a:latin typeface="Helvetica Neue"/>
              </a:rPr>
              <a:t>BUSINESS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0" i="0">
                <a:solidFill>
                  <a:srgbClr val="101828"/>
                </a:solidFill>
                <a:latin typeface="Georgia"/>
              </a:rPr>
              <a:t>What the receipts say.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11094415" cy="132588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07208"/>
            <a:ext cx="27736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F6F2E8"/>
                </a:solidFill>
                <a:latin typeface="Georgia"/>
              </a:rPr>
              <a:t>$322,966.75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27736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 spc="400">
                <a:solidFill>
                  <a:srgbClr val="CFC9BA"/>
                </a:solidFill>
                <a:latin typeface="Helvetica Neue"/>
              </a:rPr>
              <a:t>TOTAL REVENUE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22243.75" y="2834640"/>
            <a:ext cx="0.0" cy="868680"/>
          </a:xfrm>
          <a:prstGeom prst="line">
            <a:avLst/>
          </a:prstGeom>
          <a:ln w="6350">
            <a:solidFill>
              <a:srgbClr val="353C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22243" y="2807208"/>
            <a:ext cx="27736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F6F2E8"/>
                </a:solidFill>
                <a:latin typeface="Georgia"/>
              </a:rPr>
              <a:t>$15,379.37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2243" y="3474720"/>
            <a:ext cx="27736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 spc="400">
                <a:solidFill>
                  <a:srgbClr val="CFC9BA"/>
                </a:solidFill>
                <a:latin typeface="Helvetica Neue"/>
              </a:rPr>
              <a:t>GROSS INCOME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5847.5" y="2834640"/>
            <a:ext cx="0.0" cy="868680"/>
          </a:xfrm>
          <a:prstGeom prst="line">
            <a:avLst/>
          </a:prstGeom>
          <a:ln w="6350">
            <a:solidFill>
              <a:srgbClr val="353C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95847" y="2807208"/>
            <a:ext cx="27736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F6F2E8"/>
                </a:solidFill>
                <a:latin typeface="Georgia"/>
              </a:rPr>
              <a:t>$322.97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5847" y="3474720"/>
            <a:ext cx="27736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 spc="400">
                <a:solidFill>
                  <a:srgbClr val="CFC9BA"/>
                </a:solidFill>
                <a:latin typeface="Helvetica Neue"/>
              </a:rPr>
              <a:t>AVG TICKET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69451.25" y="2834640"/>
            <a:ext cx="0.0" cy="868680"/>
          </a:xfrm>
          <a:prstGeom prst="line">
            <a:avLst/>
          </a:prstGeom>
          <a:ln w="6350">
            <a:solidFill>
              <a:srgbClr val="353C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869451" y="2807208"/>
            <a:ext cx="27736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F6F2E8"/>
                </a:solidFill>
                <a:latin typeface="Georgia"/>
              </a:rPr>
              <a:t>6.97 /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451" y="3474720"/>
            <a:ext cx="27736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 spc="400">
                <a:solidFill>
                  <a:srgbClr val="CFC9BA"/>
                </a:solidFill>
                <a:latin typeface="Helvetica Neue"/>
              </a:rPr>
              <a:t>AVG RATING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605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00684A"/>
                </a:solidFill>
                <a:latin typeface="Helvetica Neue"/>
              </a:rPr>
              <a:t>REVENUE BY PRODUCT 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80560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01828"/>
                </a:solidFill>
                <a:latin typeface="Helvetica Neue"/>
              </a:rPr>
              <a:t>Food and beverages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23159" y="4562856"/>
            <a:ext cx="2011680" cy="91440"/>
          </a:xfrm>
          <a:prstGeom prst="rect">
            <a:avLst/>
          </a:prstGeom>
          <a:solidFill>
            <a:srgbClr val="ECE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23159" y="4562856"/>
            <a:ext cx="2011680" cy="91440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4480560"/>
            <a:ext cx="8229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 i="0">
                <a:solidFill>
                  <a:srgbClr val="101828"/>
                </a:solidFill>
                <a:latin typeface="Menlo"/>
              </a:rPr>
              <a:t>$56,145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727448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01828"/>
                </a:solidFill>
                <a:latin typeface="Helvetica Neue"/>
              </a:rPr>
              <a:t>Sports and travel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23159" y="4809744"/>
            <a:ext cx="2011680" cy="91440"/>
          </a:xfrm>
          <a:prstGeom prst="rect">
            <a:avLst/>
          </a:prstGeom>
          <a:solidFill>
            <a:srgbClr val="ECE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23159" y="4809744"/>
            <a:ext cx="1975469" cy="914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4727448"/>
            <a:ext cx="8229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 i="0">
                <a:solidFill>
                  <a:srgbClr val="101828"/>
                </a:solidFill>
                <a:latin typeface="Menlo"/>
              </a:rPr>
              <a:t>$55,123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974336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01828"/>
                </a:solidFill>
                <a:latin typeface="Helvetica Neue"/>
              </a:rPr>
              <a:t>Electronic accessories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23159" y="5056632"/>
            <a:ext cx="2011680" cy="91440"/>
          </a:xfrm>
          <a:prstGeom prst="rect">
            <a:avLst/>
          </a:prstGeom>
          <a:solidFill>
            <a:srgbClr val="ECE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423159" y="5056632"/>
            <a:ext cx="1947306" cy="914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4974336"/>
            <a:ext cx="8229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 i="0">
                <a:solidFill>
                  <a:srgbClr val="101828"/>
                </a:solidFill>
                <a:latin typeface="Menlo"/>
              </a:rPr>
              <a:t>$54,338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221224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01828"/>
                </a:solidFill>
                <a:latin typeface="Helvetica Neue"/>
              </a:rPr>
              <a:t>Fashion accessories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23159" y="5303520"/>
            <a:ext cx="2011680" cy="91440"/>
          </a:xfrm>
          <a:prstGeom prst="rect">
            <a:avLst/>
          </a:prstGeom>
          <a:solidFill>
            <a:srgbClr val="ECE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23159" y="5303520"/>
            <a:ext cx="1945294" cy="914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60" y="5221224"/>
            <a:ext cx="8229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 i="0">
                <a:solidFill>
                  <a:srgbClr val="101828"/>
                </a:solidFill>
                <a:latin typeface="Menlo"/>
              </a:rPr>
              <a:t>$54,306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468112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01828"/>
                </a:solidFill>
                <a:latin typeface="Helvetica Neue"/>
              </a:rPr>
              <a:t>Home and lifestyle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23159" y="5550408"/>
            <a:ext cx="2011680" cy="91440"/>
          </a:xfrm>
          <a:prstGeom prst="rect">
            <a:avLst/>
          </a:prstGeom>
          <a:solidFill>
            <a:srgbClr val="ECE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423159" y="5550408"/>
            <a:ext cx="1929201" cy="91440"/>
          </a:xfrm>
          <a:prstGeom prst="rect">
            <a:avLst/>
          </a:prstGeom>
          <a:solidFill>
            <a:srgbClr val="5F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468112"/>
            <a:ext cx="8229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 i="0">
                <a:solidFill>
                  <a:srgbClr val="101828"/>
                </a:solidFill>
                <a:latin typeface="Menlo"/>
              </a:rPr>
              <a:t>$53,862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715000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01828"/>
                </a:solidFill>
                <a:latin typeface="Helvetica Neue"/>
              </a:rPr>
              <a:t>Health and beauty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23159" y="5797296"/>
            <a:ext cx="2011680" cy="91440"/>
          </a:xfrm>
          <a:prstGeom prst="rect">
            <a:avLst/>
          </a:prstGeom>
          <a:solidFill>
            <a:srgbClr val="ECE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23159" y="5797296"/>
            <a:ext cx="1762231" cy="91440"/>
          </a:xfrm>
          <a:prstGeom prst="rect">
            <a:avLst/>
          </a:prstGeom>
          <a:solidFill>
            <a:srgbClr val="5F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0560" y="5715000"/>
            <a:ext cx="8229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 i="0">
                <a:solidFill>
                  <a:srgbClr val="101828"/>
                </a:solidFill>
                <a:latin typeface="Menlo"/>
              </a:rPr>
              <a:t>$49,194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4160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B88A2E"/>
                </a:solidFill>
                <a:latin typeface="Helvetica Neue"/>
              </a:rPr>
              <a:t>BRANCHES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0" y="45262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00684A"/>
                </a:solidFill>
                <a:latin typeface="Georgia"/>
              </a:rPr>
              <a:t>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89320" y="448970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828"/>
                </a:solidFill>
                <a:latin typeface="Helvetica Neue"/>
              </a:rPr>
              <a:t>Naypyitaw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89320" y="471830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F6A7A"/>
                </a:solidFill>
                <a:latin typeface="Menlo"/>
              </a:rPr>
              <a:t>$110,569   ·   328 tix   ·   ★ 7.07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486400" y="5029200"/>
            <a:ext cx="274320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486400" y="5120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101828"/>
                </a:solidFill>
                <a:latin typeface="Georgia"/>
              </a:rPr>
              <a:t>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89320" y="50840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828"/>
                </a:solidFill>
                <a:latin typeface="Helvetica Neue"/>
              </a:rPr>
              <a:t>Yangon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89320" y="5312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F6A7A"/>
                </a:solidFill>
                <a:latin typeface="Menlo"/>
              </a:rPr>
              <a:t>$106,200   ·   340 tix   ·   ★ 7.03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486400" y="5623560"/>
            <a:ext cx="274320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486400" y="5715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101828"/>
                </a:solidFill>
                <a:latin typeface="Georgia"/>
              </a:rPr>
              <a:t>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89320" y="567842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828"/>
                </a:solidFill>
                <a:latin typeface="Helvetica Neue"/>
              </a:rPr>
              <a:t>Mandalay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89320" y="590702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F6A7A"/>
                </a:solidFill>
                <a:latin typeface="Menlo"/>
              </a:rPr>
              <a:t>$106,198   ·   332 tix   ·   ★ 6.82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41605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A84A2A"/>
                </a:solidFill>
                <a:latin typeface="Helvetica Neue"/>
              </a:rPr>
              <a:t>PEAK HOURS · REVENUE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12480" y="4526280"/>
            <a:ext cx="411480" cy="1371600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80" y="594360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101828"/>
                </a:solidFill>
                <a:latin typeface="Helvetica Neue"/>
              </a:rPr>
              <a:t>19h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66760" y="615391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F6A7A"/>
                </a:solidFill>
                <a:latin typeface="Menlo"/>
              </a:rPr>
              <a:t>$39.7k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25128" y="4697730"/>
            <a:ext cx="411480" cy="1200150"/>
          </a:xfrm>
          <a:prstGeom prst="rect">
            <a:avLst/>
          </a:prstGeom>
          <a:solidFill>
            <a:srgbClr val="5F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25128" y="594360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101828"/>
                </a:solidFill>
                <a:latin typeface="Helvetica Neue"/>
              </a:rPr>
              <a:t>13h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79408" y="615391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F6A7A"/>
                </a:solidFill>
                <a:latin typeface="Menlo"/>
              </a:rPr>
              <a:t>$34.7k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37776" y="4811573"/>
            <a:ext cx="411480" cy="1086307"/>
          </a:xfrm>
          <a:prstGeom prst="rect">
            <a:avLst/>
          </a:prstGeom>
          <a:solidFill>
            <a:srgbClr val="5F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37776" y="594360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101828"/>
                </a:solidFill>
                <a:latin typeface="Helvetica Neue"/>
              </a:rPr>
              <a:t>10h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92056" y="615391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F6A7A"/>
                </a:solidFill>
                <a:latin typeface="Menlo"/>
              </a:rPr>
              <a:t>$31.4k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250424" y="4819803"/>
            <a:ext cx="411480" cy="1078077"/>
          </a:xfrm>
          <a:prstGeom prst="rect">
            <a:avLst/>
          </a:prstGeom>
          <a:solidFill>
            <a:srgbClr val="5F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250424" y="594360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101828"/>
                </a:solidFill>
                <a:latin typeface="Helvetica Neue"/>
              </a:rPr>
              <a:t>15h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04704" y="615391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F6A7A"/>
                </a:solidFill>
                <a:latin typeface="Menlo"/>
              </a:rPr>
              <a:t>$31.2k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863072" y="4833519"/>
            <a:ext cx="411480" cy="1064361"/>
          </a:xfrm>
          <a:prstGeom prst="rect">
            <a:avLst/>
          </a:prstGeom>
          <a:solidFill>
            <a:srgbClr val="5F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863072" y="594360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101828"/>
                </a:solidFill>
                <a:latin typeface="Helvetica Neue"/>
              </a:rPr>
              <a:t>14h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817352" y="615391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F6A7A"/>
                </a:solidFill>
                <a:latin typeface="Menlo"/>
              </a:rPr>
              <a:t>$30.8k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02920"/>
            <a:ext cx="11094415" cy="0"/>
          </a:xfrm>
          <a:prstGeom prst="line">
            <a:avLst/>
          </a:prstGeom>
          <a:ln w="9525">
            <a:solidFill>
              <a:srgbClr val="101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350">
                <a:solidFill>
                  <a:srgbClr val="5F6A7A"/>
                </a:solidFill>
                <a:latin typeface="Helvetica Neue"/>
              </a:rPr>
              <a:t>QUICKCART  ·  BIG DATA STORAGE  · 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1" i="0" spc="200">
                <a:solidFill>
                  <a:srgbClr val="5F6A7A"/>
                </a:solidFill>
                <a:latin typeface="Helvetica Neue"/>
              </a:rPr>
              <a:t>06 / 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D8D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350">
                <a:solidFill>
                  <a:srgbClr val="5F6A7A"/>
                </a:solidFill>
                <a:latin typeface="Helvetica Neue"/>
              </a:rPr>
              <a:t>E &amp; G — QUERIES AND AGGREGATIONS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255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 spc="200">
                <a:solidFill>
                  <a:srgbClr val="5F6A7A"/>
                </a:solidFill>
                <a:latin typeface="Helvetica Neue"/>
              </a:rPr>
              <a:t>NOVA IMS  ·  2025/26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00684A"/>
                </a:solidFill>
                <a:latin typeface="Helvetica Neue"/>
              </a:rPr>
              <a:t>E &amp; G  ·  HOW THE STORE 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101828"/>
                </a:solidFill>
                <a:latin typeface="Georgia"/>
              </a:rPr>
              <a:t>Five questions managers ask.</a:t>
            </a:r>
          </a:p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101828"/>
                </a:solidFill>
                <a:latin typeface="Georgia"/>
              </a:rPr>
              <a:t>Four pipelines that answer the rest.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5440680" cy="3108960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246120"/>
            <a:ext cx="128016" cy="3108960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400">
                <a:solidFill>
                  <a:srgbClr val="00684A"/>
                </a:solidFill>
                <a:latin typeface="Helvetica Neue"/>
              </a:rPr>
              <a:t>E  ·  FIVE INSIGHT QUERIES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319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B88A2E"/>
                </a:solidFill>
                <a:latin typeface="Georgia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93192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01828"/>
                </a:solidFill>
                <a:latin typeface="Helvetica Neue"/>
              </a:rPr>
              <a:t>March receipts for Branch C, by ticket.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931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00684A"/>
                </a:solidFill>
                <a:latin typeface="Menlo"/>
              </a:rPr>
              <a:t>106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8680" y="4325112"/>
            <a:ext cx="498348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437997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B88A2E"/>
                </a:solidFill>
                <a:latin typeface="Georgia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379976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01828"/>
                </a:solidFill>
                <a:latin typeface="Helvetica Neue"/>
              </a:rPr>
              <a:t>Food &amp; beverages receipts ≥ $500.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37997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00684A"/>
                </a:solidFill>
                <a:latin typeface="Menlo"/>
              </a:rPr>
              <a:t>37 / 174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" y="4773168"/>
            <a:ext cx="498348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68680" y="482803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B88A2E"/>
                </a:solidFill>
                <a:latin typeface="Georg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828032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01828"/>
                </a:solidFill>
                <a:latin typeface="Helvetica Neue"/>
              </a:rPr>
              <a:t>Cash transactions above avg ticket.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8280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00684A"/>
                </a:solidFill>
                <a:latin typeface="Menlo"/>
              </a:rPr>
              <a:t>142 / 344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8680" y="5221224"/>
            <a:ext cx="498348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68680" y="527608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B88A2E"/>
                </a:solidFill>
                <a:latin typeface="Georgia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276088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01828"/>
                </a:solidFill>
                <a:latin typeface="Helvetica Neue"/>
              </a:rPr>
              <a:t>Member Sports &amp; travel, by rating.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2760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00684A"/>
                </a:solidFill>
                <a:latin typeface="Menlo"/>
              </a:rPr>
              <a:t>87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8680" y="5669280"/>
            <a:ext cx="498348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68680" y="572414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B88A2E"/>
                </a:solidFill>
                <a:latin typeface="Georgia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724144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01828"/>
                </a:solidFill>
                <a:latin typeface="Helvetica Neue"/>
              </a:rPr>
              <a:t>Low-rating receipts (&lt;5) for follow-up.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72414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00684A"/>
                </a:solidFill>
                <a:latin typeface="Menlo"/>
              </a:rPr>
              <a:t>153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246120"/>
            <a:ext cx="5440680" cy="3108960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246120"/>
            <a:ext cx="128016" cy="310896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352044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400">
                <a:solidFill>
                  <a:srgbClr val="B88A2E"/>
                </a:solidFill>
                <a:latin typeface="Helvetica Neue"/>
              </a:rPr>
              <a:t>G  ·  FOUR AGGREGATION PIPELINES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931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8A2E"/>
                </a:solidFill>
                <a:latin typeface="Georgia"/>
              </a:rPr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3895344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1828"/>
                </a:solidFill>
                <a:latin typeface="Helvetica Neue"/>
              </a:rPr>
              <a:t>Branch scorecard.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4133088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F6A7A"/>
                </a:solidFill>
                <a:latin typeface="Helvetica Neue"/>
              </a:rPr>
              <a:t>$group on branch.code → revenue, profit, tickets, avg rating.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489704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8A2E"/>
                </a:solidFill>
                <a:latin typeface="Georgia"/>
              </a:rPr>
              <a:t>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4453128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1828"/>
                </a:solidFill>
                <a:latin typeface="Helvetica Neue"/>
              </a:rPr>
              <a:t>Product line performance.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4690872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F6A7A"/>
                </a:solidFill>
                <a:latin typeface="Helvetica Neue"/>
              </a:rPr>
              <a:t>$unwind items → $group by product_line → revenue, units.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504748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8A2E"/>
                </a:solidFill>
                <a:latin typeface="Georgia"/>
              </a:rPr>
              <a:t>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5010912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1828"/>
                </a:solidFill>
                <a:latin typeface="Helvetica Neue"/>
              </a:rPr>
              <a:t>Sales by hour of day.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5248656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F6A7A"/>
                </a:solidFill>
                <a:latin typeface="Helvetica Neue"/>
              </a:rPr>
              <a:t>Peak 19:00 → $39,699.51 across 113 receipts.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60527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8A2E"/>
                </a:solidFill>
                <a:latin typeface="Georgia"/>
              </a:rPr>
              <a:t>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5568696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1828"/>
                </a:solidFill>
                <a:latin typeface="Helvetica Neue"/>
              </a:rPr>
              <a:t>Customer × payment mix.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5806440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F6A7A"/>
                </a:solidFill>
                <a:latin typeface="Helvetica Neue"/>
              </a:rPr>
              <a:t>Member vs Normal across Cash, Card, Ewallet, with avg rating.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02920"/>
            <a:ext cx="11094415" cy="0"/>
          </a:xfrm>
          <a:prstGeom prst="line">
            <a:avLst/>
          </a:prstGeom>
          <a:ln w="9525">
            <a:solidFill>
              <a:srgbClr val="101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350">
                <a:solidFill>
                  <a:srgbClr val="5F6A7A"/>
                </a:solidFill>
                <a:latin typeface="Helvetica Neue"/>
              </a:rPr>
              <a:t>QUICKCART  ·  BIG DATA STORAGE  · 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1" i="0" spc="200">
                <a:solidFill>
                  <a:srgbClr val="5F6A7A"/>
                </a:solidFill>
                <a:latin typeface="Helvetica Neue"/>
              </a:rPr>
              <a:t>07 / 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D8D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350">
                <a:solidFill>
                  <a:srgbClr val="5F6A7A"/>
                </a:solidFill>
                <a:latin typeface="Helvetica Neue"/>
              </a:rPr>
              <a:t>F — INDEXES AND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255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 spc="200">
                <a:solidFill>
                  <a:srgbClr val="5F6A7A"/>
                </a:solidFill>
                <a:latin typeface="Helvetica Neue"/>
              </a:rPr>
              <a:t>NOVA IMS  ·  2025/26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00684A"/>
                </a:solidFill>
                <a:latin typeface="Helvetica Neue"/>
              </a:rPr>
              <a:t>F  ·  EVERY INDEX EARNS ITS KEEP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101828"/>
                </a:solidFill>
                <a:latin typeface="Georgia"/>
              </a:rPr>
              <a:t>Seven indexes.</a:t>
            </a:r>
          </a:p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101828"/>
                </a:solidFill>
                <a:latin typeface="Georgia"/>
              </a:rPr>
              <a:t>One query each.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00684A"/>
                </a:solidFill>
                <a:latin typeface="Helvetica Neue"/>
              </a:rPr>
              <a:t>INDEX  ·  KEYS  ·  QUERY SERVED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538728"/>
            <a:ext cx="7223760" cy="0"/>
          </a:xfrm>
          <a:prstGeom prst="line">
            <a:avLst/>
          </a:prstGeom>
          <a:ln w="7620">
            <a:solidFill>
              <a:srgbClr val="101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361188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1828"/>
                </a:solidFill>
                <a:latin typeface="Menlo"/>
              </a:rPr>
              <a:t>idx_sale_datetime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1304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F6A7A"/>
                </a:solidFill>
                <a:latin typeface="Menlo"/>
              </a:rPr>
              <a:t>{ sale_datetime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703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01828"/>
                </a:solidFill>
                <a:latin typeface="Helvetica Neue"/>
              </a:rPr>
              <a:t>Time-range scans.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3986784"/>
            <a:ext cx="722376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400507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1828"/>
                </a:solidFill>
                <a:latin typeface="Menlo"/>
              </a:rPr>
              <a:t>idx_branch_date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F6A7A"/>
                </a:solidFill>
                <a:latin typeface="Menlo"/>
              </a:rPr>
              <a:t>{ branch.code, sale_datetime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0965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01828"/>
                </a:solidFill>
                <a:latin typeface="Helvetica Neue"/>
              </a:rPr>
              <a:t>Branch × month windows.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4379976"/>
            <a:ext cx="722376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4398264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1828"/>
                </a:solidFill>
                <a:latin typeface="Menlo"/>
              </a:rPr>
              <a:t>idx_product_total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9943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F6A7A"/>
                </a:solidFill>
                <a:latin typeface="Menlo"/>
              </a:rPr>
              <a:t>{ items.product_line, financials.total ↓ 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48970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01828"/>
                </a:solidFill>
                <a:latin typeface="Helvetica Neue"/>
              </a:rPr>
              <a:t>High-value by category.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4773168"/>
            <a:ext cx="722376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4791456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1828"/>
                </a:solidFill>
                <a:latin typeface="Menlo"/>
              </a:rPr>
              <a:t>idx_payment_date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992624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F6A7A"/>
                </a:solidFill>
                <a:latin typeface="Menlo"/>
              </a:rPr>
              <a:t>{ payment.method, sale_datetime 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8828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01828"/>
                </a:solidFill>
                <a:latin typeface="Helvetica Neue"/>
              </a:rPr>
              <a:t>Cash above average.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5166360"/>
            <a:ext cx="722376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5184648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1828"/>
                </a:solidFill>
                <a:latin typeface="Menlo"/>
              </a:rPr>
              <a:t>idx_customer_product_rating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38581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F6A7A"/>
                </a:solidFill>
                <a:latin typeface="Menlo"/>
              </a:rPr>
              <a:t>{ customer.type, items.product_line, rating ↓ 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2760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01828"/>
                </a:solidFill>
                <a:latin typeface="Helvetica Neue"/>
              </a:rPr>
              <a:t>Loyalty × rating.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5559552"/>
            <a:ext cx="722376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557784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1828"/>
                </a:solidFill>
                <a:latin typeface="Menlo"/>
              </a:rPr>
              <a:t>idx_rating_total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77900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F6A7A"/>
                </a:solidFill>
                <a:latin typeface="Menlo"/>
              </a:rPr>
              <a:t>{ rating, financials.total ↓ 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6692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01828"/>
                </a:solidFill>
                <a:latin typeface="Helvetica Neue"/>
              </a:rPr>
              <a:t>Low-rating follow-up.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5952744"/>
            <a:ext cx="722376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597103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1828"/>
                </a:solidFill>
                <a:latin typeface="Menlo"/>
              </a:rPr>
              <a:t>idx_hour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17220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F6A7A"/>
                </a:solidFill>
                <a:latin typeface="Menlo"/>
              </a:rPr>
              <a:t>{ sale_hour 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60624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01828"/>
                </a:solidFill>
                <a:latin typeface="Helvetica Neue"/>
              </a:rPr>
              <a:t>Hour-of-day rollups.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6345936"/>
            <a:ext cx="722376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046720" y="3246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B88A2E"/>
                </a:solidFill>
                <a:latin typeface="Helvetica Neue"/>
              </a:rPr>
              <a:t>CANDIDATES  ·  SCAN → INDEX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046720" y="3538728"/>
            <a:ext cx="3657600" cy="0"/>
          </a:xfrm>
          <a:prstGeom prst="line">
            <a:avLst/>
          </a:prstGeom>
          <a:ln w="7620">
            <a:solidFill>
              <a:srgbClr val="101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046720" y="36301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1828"/>
                </a:solidFill>
                <a:latin typeface="Helvetica Neue"/>
              </a:rPr>
              <a:t>Branch C, March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383133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F6A7A"/>
                </a:solidFill>
                <a:latin typeface="Menlo"/>
              </a:rPr>
              <a:t>1,000 → 106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4014216"/>
            <a:ext cx="3657600" cy="54864"/>
          </a:xfrm>
          <a:prstGeom prst="rect">
            <a:avLst/>
          </a:prstGeom>
          <a:solidFill>
            <a:srgbClr val="ECE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46720" y="4014216"/>
            <a:ext cx="387705" cy="54864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0" y="417880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1828"/>
                </a:solidFill>
                <a:latin typeface="Helvetica Neue"/>
              </a:rPr>
              <a:t>Food &amp; bev ≥ $500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437997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F6A7A"/>
                </a:solidFill>
                <a:latin typeface="Menlo"/>
              </a:rPr>
              <a:t>1,000 → 37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0" y="4562856"/>
            <a:ext cx="3657600" cy="54864"/>
          </a:xfrm>
          <a:prstGeom prst="rect">
            <a:avLst/>
          </a:prstGeom>
          <a:solidFill>
            <a:srgbClr val="ECE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46720" y="4562856"/>
            <a:ext cx="135331" cy="54864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20" y="47274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1828"/>
                </a:solidFill>
                <a:latin typeface="Helvetica Neue"/>
              </a:rPr>
              <a:t>Cash &gt; avg ticket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0" y="492861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F6A7A"/>
                </a:solidFill>
                <a:latin typeface="Menlo"/>
              </a:rPr>
              <a:t>1,000 → 142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6720" y="5111496"/>
            <a:ext cx="3657600" cy="54864"/>
          </a:xfrm>
          <a:prstGeom prst="rect">
            <a:avLst/>
          </a:prstGeom>
          <a:solidFill>
            <a:srgbClr val="ECE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46720" y="5111496"/>
            <a:ext cx="519379" cy="54864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20" y="5276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1828"/>
                </a:solidFill>
                <a:latin typeface="Helvetica Neue"/>
              </a:rPr>
              <a:t>Member, Sports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547725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F6A7A"/>
                </a:solidFill>
                <a:latin typeface="Menlo"/>
              </a:rPr>
              <a:t>1,000 → 87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46720" y="5660136"/>
            <a:ext cx="3657600" cy="54864"/>
          </a:xfrm>
          <a:prstGeom prst="rect">
            <a:avLst/>
          </a:prstGeom>
          <a:solidFill>
            <a:srgbClr val="ECE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046720" y="5660136"/>
            <a:ext cx="318211" cy="54864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20" y="582472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1828"/>
                </a:solidFill>
                <a:latin typeface="Helvetica Neue"/>
              </a:rPr>
              <a:t>Low rating (&lt;5)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0" y="602589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F6A7A"/>
                </a:solidFill>
                <a:latin typeface="Menlo"/>
              </a:rPr>
              <a:t>1,000 → 153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46720" y="6208776"/>
            <a:ext cx="3657600" cy="54864"/>
          </a:xfrm>
          <a:prstGeom prst="rect">
            <a:avLst/>
          </a:prstGeom>
          <a:solidFill>
            <a:srgbClr val="ECE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046720" y="6208776"/>
            <a:ext cx="559612" cy="54864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02920"/>
            <a:ext cx="11094415" cy="0"/>
          </a:xfrm>
          <a:prstGeom prst="line">
            <a:avLst/>
          </a:prstGeom>
          <a:ln w="9525">
            <a:solidFill>
              <a:srgbClr val="101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350">
                <a:solidFill>
                  <a:srgbClr val="5F6A7A"/>
                </a:solidFill>
                <a:latin typeface="Helvetica Neue"/>
              </a:rPr>
              <a:t>QUICKCART  ·  BIG DATA STORAGE  · 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1" i="0" spc="200">
                <a:solidFill>
                  <a:srgbClr val="5F6A7A"/>
                </a:solidFill>
                <a:latin typeface="Helvetica Neue"/>
              </a:rPr>
              <a:t>08 / 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D8D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350">
                <a:solidFill>
                  <a:srgbClr val="5F6A7A"/>
                </a:solidFill>
                <a:latin typeface="Helvetica Neue"/>
              </a:rPr>
              <a:t>SUBMISSION · GROUP_11.ZIP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255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 spc="200">
                <a:solidFill>
                  <a:srgbClr val="5F6A7A"/>
                </a:solidFill>
                <a:latin typeface="Helvetica Neue"/>
              </a:rPr>
              <a:t>NOVA IMS  ·  2025/26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00684A"/>
                </a:solidFill>
                <a:latin typeface="Helvetica Neue"/>
              </a:rPr>
              <a:t>DELIVERABLES  ·  WHAT GOES TO MOODLE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0" i="0">
                <a:solidFill>
                  <a:srgbClr val="101828"/>
                </a:solidFill>
                <a:latin typeface="Georgia"/>
              </a:rPr>
              <a:t>group_11.zip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00684A"/>
                </a:solidFill>
                <a:latin typeface="Helvetica Neue"/>
              </a:rPr>
              <a:t>CONTENTS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990088"/>
            <a:ext cx="6858000" cy="0"/>
          </a:xfrm>
          <a:prstGeom prst="line">
            <a:avLst/>
          </a:prstGeom>
          <a:ln w="7620">
            <a:solidFill>
              <a:srgbClr val="101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3108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828"/>
                </a:solidFill>
                <a:latin typeface="Menlo"/>
              </a:rPr>
              <a:t>group_11_report.docx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10896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F6A7A"/>
                </a:solidFill>
                <a:latin typeface="Helvetica Neue"/>
              </a:rPr>
              <a:t>Cover · 1-page rationale · design decisions · A/D.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3419856"/>
            <a:ext cx="685800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349300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828"/>
                </a:solidFill>
                <a:latin typeface="Menlo"/>
              </a:rPr>
              <a:t>group_11_report.pdf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493008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F6A7A"/>
                </a:solidFill>
                <a:latin typeface="Helvetica Neue"/>
              </a:rPr>
              <a:t>Locked PDF version of the report.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3803904"/>
            <a:ext cx="685800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387705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828"/>
                </a:solidFill>
                <a:latin typeface="Menlo"/>
              </a:rPr>
              <a:t>group_11.bson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87705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F6A7A"/>
                </a:solidFill>
                <a:latin typeface="Helvetica Neue"/>
              </a:rPr>
              <a:t>MongoDB backup — 1,000 documents.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4187952"/>
            <a:ext cx="685800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426110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828"/>
                </a:solidFill>
                <a:latin typeface="Menlo"/>
              </a:rPr>
              <a:t>group_11.metadata.json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4261104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F6A7A"/>
                </a:solidFill>
                <a:latin typeface="Helvetica Neue"/>
              </a:rPr>
              <a:t>Validator + index metadata.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4572000"/>
            <a:ext cx="685800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46451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828"/>
                </a:solidFill>
                <a:latin typeface="Menlo"/>
              </a:rPr>
              <a:t>group_11.txt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4645152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F6A7A"/>
                </a:solidFill>
                <a:latin typeface="Helvetica Neue"/>
              </a:rPr>
              <a:t>All queries, aggregations, and commands.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4956048"/>
            <a:ext cx="685800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5029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828"/>
                </a:solidFill>
                <a:latin typeface="Menlo"/>
              </a:rPr>
              <a:t>group_11_presentation.pptx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502920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F6A7A"/>
                </a:solidFill>
                <a:latin typeface="Helvetica Neue"/>
              </a:rPr>
              <a:t>This deck — 8 slides, 10 min defense.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5340096"/>
            <a:ext cx="685800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54132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828"/>
                </a:solidFill>
                <a:latin typeface="Menlo"/>
              </a:rPr>
              <a:t>data/  ·  support/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5413248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F6A7A"/>
                </a:solidFill>
                <a:latin typeface="Helvetica Neue"/>
              </a:rPr>
              <a:t>Source CSV, restore notes, dictionary.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724144"/>
            <a:ext cx="685800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680960" y="269748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B88A2E"/>
                </a:solidFill>
                <a:latin typeface="Helvetica Neue"/>
              </a:rPr>
              <a:t>RESTORE  ·  ONE COMMAND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0960" y="3063240"/>
            <a:ext cx="3977639" cy="1417320"/>
          </a:xfrm>
          <a:prstGeom prst="rect">
            <a:avLst/>
          </a:prstGeom>
          <a:solidFill>
            <a:srgbClr val="1C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45552" y="3200400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028432" y="3200400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11312" y="3200400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82128" y="3447288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E6E6DE"/>
                </a:solidFill>
                <a:latin typeface="Menlo"/>
              </a:rPr>
              <a:t>$ mongorestore \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8" y="3666744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FC9BA"/>
                </a:solidFill>
                <a:latin typeface="Menlo"/>
              </a:rPr>
              <a:t>    --db group_11 \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82128" y="3886200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FC9BA"/>
                </a:solidFill>
                <a:latin typeface="Menlo"/>
              </a:rPr>
              <a:t>    --collection sales_receipts \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82128" y="4105656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00684A"/>
                </a:solidFill>
                <a:latin typeface="Menlo"/>
              </a:rPr>
              <a:t>    --drop group_11.bson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70916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B88A2E"/>
                </a:solidFill>
                <a:latin typeface="Helvetica Neue"/>
              </a:rPr>
              <a:t>BEFORE UPLOAD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0" y="5102352"/>
            <a:ext cx="73152" cy="73152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0" y="5029200"/>
            <a:ext cx="3794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01828"/>
                </a:solidFill>
                <a:latin typeface="Helvetica Neue"/>
              </a:rPr>
              <a:t>Group number is 11.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0" y="5376672"/>
            <a:ext cx="73152" cy="73152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0" y="5303520"/>
            <a:ext cx="3794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01828"/>
                </a:solidFill>
                <a:latin typeface="Helvetica Neue"/>
              </a:rPr>
              <a:t>Verify  mongorestore  on a clean local Mongo.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80960" y="5650992"/>
            <a:ext cx="73152" cy="73152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63840" y="5577840"/>
            <a:ext cx="3794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01828"/>
                </a:solidFill>
                <a:latin typeface="Helvetica Neue"/>
              </a:rPr>
              <a:t>Run  db.sales_receipts.countDocuments()  → 1,000.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0" y="5925312"/>
            <a:ext cx="73152" cy="73152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63840" y="5852160"/>
            <a:ext cx="3794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01828"/>
                </a:solidFill>
                <a:latin typeface="Helvetica Neue"/>
              </a:rPr>
              <a:t>Submit one zip per group, on Moodle, by May 22.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48640" y="6035040"/>
            <a:ext cx="11094415" cy="0"/>
          </a:xfrm>
          <a:prstGeom prst="line">
            <a:avLst/>
          </a:prstGeom>
          <a:ln w="12700">
            <a:solidFill>
              <a:srgbClr val="B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1">
                <a:solidFill>
                  <a:srgbClr val="101828"/>
                </a:solidFill>
                <a:latin typeface="Georgia"/>
              </a:rPr>
              <a:t>Thank you. Questions next.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Storage Final Project</dc:title>
  <dc:subject>MongoDB design for QuickCart Supermarket, Group 11</dc:subject>
  <dc:creator/>
  <cp:keywords/>
  <dc:description/>
  <cp:lastModifiedBy/>
  <cp:revision>1</cp:revision>
</cp:coreProperties>
</file>